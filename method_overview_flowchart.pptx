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84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F2937"/>
                </a:solidFill>
                <a:latin typeface="Aptos"/>
              </a:rPr>
              <a:t>Overview of the Proposed Defense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B6574"/>
                </a:solidFill>
                <a:latin typeface="Aptos"/>
              </a:rPr>
              <a:t>Phase I separates unseen clients; Phase II scores backdoor risk; joint analysis determines update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097280"/>
            <a:ext cx="1636776" cy="292608"/>
          </a:xfrm>
          <a:prstGeom prst="rect">
            <a:avLst/>
          </a:prstGeom>
          <a:solidFill>
            <a:srgbClr val="244B5A"/>
          </a:solidFill>
          <a:ln w="7620">
            <a:solidFill>
              <a:srgbClr val="24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33856"/>
            <a:ext cx="1545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ptos"/>
              </a:rPr>
              <a:t>Client-side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72184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gradients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intermediate features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1F2937"/>
                </a:solidFill>
                <a:latin typeface="Aptos"/>
              </a:rPr>
              <a:t>model updates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1426464"/>
            <a:ext cx="256032" cy="146304"/>
          </a:xfrm>
          <a:prstGeom prst="rightArrow">
            <a:avLst/>
          </a:prstGeom>
          <a:solidFill>
            <a:srgbClr val="5B6574"/>
          </a:solidFill>
          <a:ln w="6350">
            <a:solidFill>
              <a:srgbClr val="5B6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914400"/>
            <a:ext cx="34015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52344" y="969264"/>
            <a:ext cx="3291840" cy="329184"/>
          </a:xfrm>
          <a:prstGeom prst="rect">
            <a:avLst/>
          </a:prstGeom>
          <a:solidFill>
            <a:srgbClr val="2A9D8F"/>
          </a:solidFill>
          <a:ln w="762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010412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 i="0">
                <a:solidFill>
                  <a:srgbClr val="FFFFFF"/>
                </a:solidFill>
                <a:latin typeface="Aptos"/>
              </a:rPr>
              <a:t>Phase I: Unseen Client Separation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417320"/>
            <a:ext cx="3182112" cy="2404872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E9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527048"/>
            <a:ext cx="2999232" cy="21488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0" i="0">
                <a:solidFill>
                  <a:srgbClr val="1F2937"/>
                </a:solidFill>
                <a:latin typeface="Aptos"/>
              </a:rPr>
              <a:t>• Deep gradient cosine similarity</a:t>
            </a:r>
          </a:p>
          <a:p>
            <a:pPr algn="l">
              <a:spcAft>
                <a:spcPts val="200"/>
              </a:spcAft>
            </a:pPr>
            <a:r>
              <a:rPr sz="1060" b="0" i="0">
                <a:solidFill>
                  <a:srgbClr val="1F2937"/>
                </a:solidFill>
                <a:latin typeface="Aptos"/>
              </a:rPr>
              <a:t>• Shallow gradient sparsity</a:t>
            </a:r>
          </a:p>
          <a:p>
            <a:pPr algn="l">
              <a:spcAft>
                <a:spcPts val="200"/>
              </a:spcAft>
            </a:pPr>
            <a:r>
              <a:rPr sz="1060" b="0" i="0">
                <a:solidFill>
                  <a:srgbClr val="1F2937"/>
                </a:solidFill>
                <a:latin typeface="Aptos"/>
              </a:rPr>
              <a:t>• Intermediate-feature transfer-domain LFD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813048"/>
            <a:ext cx="1508760" cy="23774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831335"/>
            <a:ext cx="145389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Output: α_i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17920" y="2148840"/>
            <a:ext cx="256032" cy="146304"/>
          </a:xfrm>
          <a:prstGeom prst="rightArrow">
            <a:avLst/>
          </a:prstGeom>
          <a:solidFill>
            <a:srgbClr val="5B6574"/>
          </a:solidFill>
          <a:ln w="6350">
            <a:solidFill>
              <a:srgbClr val="5B6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914400"/>
            <a:ext cx="34015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92824" y="969264"/>
            <a:ext cx="3291840" cy="329184"/>
          </a:xfrm>
          <a:prstGeom prst="rect">
            <a:avLst/>
          </a:prstGeom>
          <a:solidFill>
            <a:srgbClr val="4F6BED"/>
          </a:solidFill>
          <a:ln w="7620">
            <a:solidFill>
              <a:srgbClr val="4F6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010412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 i="0">
                <a:solidFill>
                  <a:srgbClr val="FFFFFF"/>
                </a:solidFill>
                <a:latin typeface="Aptos"/>
              </a:rPr>
              <a:t>Phase II: Backdoor Screening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7688" y="1417320"/>
            <a:ext cx="3182112" cy="24048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1527048"/>
            <a:ext cx="2999232" cy="21488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5" b="0" i="0">
                <a:solidFill>
                  <a:srgbClr val="1F2937"/>
                </a:solidFill>
                <a:latin typeface="Aptos"/>
              </a:rPr>
              <a:t>• DCT low-frequency statistic</a:t>
            </a:r>
          </a:p>
          <a:p>
            <a:pPr algn="l">
              <a:spcAft>
                <a:spcPts val="200"/>
              </a:spcAft>
            </a:pPr>
            <a:r>
              <a:rPr sz="1055" b="0" i="0">
                <a:solidFill>
                  <a:srgbClr val="1F2937"/>
                </a:solidFill>
                <a:latin typeface="Aptos"/>
              </a:rPr>
              <a:t>• Gradient L2 norm</a:t>
            </a:r>
          </a:p>
          <a:p>
            <a:pPr algn="l">
              <a:spcAft>
                <a:spcPts val="200"/>
              </a:spcAft>
            </a:pPr>
            <a:r>
              <a:rPr sz="1055" b="0" i="0">
                <a:solidFill>
                  <a:srgbClr val="1F2937"/>
                </a:solidFill>
                <a:latin typeface="Aptos"/>
              </a:rPr>
              <a:t>• Feature-distribution deviation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3813048"/>
            <a:ext cx="1508760" cy="237744"/>
          </a:xfrm>
          <a:prstGeom prst="roundRect">
            <a:avLst/>
          </a:prstGeom>
          <a:solidFill>
            <a:srgbClr val="4F6BED"/>
          </a:solidFill>
          <a:ln w="12700">
            <a:solidFill>
              <a:srgbClr val="4F6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831335"/>
            <a:ext cx="145389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ptos"/>
              </a:rPr>
              <a:t>Output: risk score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955279" y="3913632"/>
            <a:ext cx="256032" cy="310896"/>
          </a:xfrm>
          <a:prstGeom prst="downArrow">
            <a:avLst/>
          </a:prstGeom>
          <a:solidFill>
            <a:srgbClr val="4CAF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443984"/>
            <a:ext cx="1136599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562856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F2937"/>
                </a:solidFill>
                <a:latin typeface="Aptos"/>
              </a:rPr>
              <a:t>Joint Analysis &amp; Soft Aggregation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754880"/>
            <a:ext cx="5440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1">
                <a:solidFill>
                  <a:srgbClr val="5B6574"/>
                </a:solidFill>
                <a:latin typeface="Aptos"/>
              </a:rPr>
              <a:t>Phase II converts each metric into a comparable risk score before the final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5001768"/>
            <a:ext cx="331012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038344"/>
            <a:ext cx="3236976" cy="164592"/>
          </a:xfrm>
          <a:prstGeom prst="rect">
            <a:avLst/>
          </a:prstGeom>
          <a:solidFill>
            <a:srgbClr val="E76F51"/>
          </a:solidFill>
          <a:ln w="762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175504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Others + Backdoor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312664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E76F51"/>
                </a:solidFill>
                <a:latin typeface="Aptos"/>
              </a:rPr>
              <a:t>discard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1376" y="5001768"/>
            <a:ext cx="331012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2" y="5038344"/>
            <a:ext cx="3236976" cy="164592"/>
          </a:xfrm>
          <a:prstGeom prst="rect">
            <a:avLst/>
          </a:prstGeom>
          <a:solidFill>
            <a:srgbClr val="4F6BED"/>
          </a:solidFill>
          <a:ln w="7620">
            <a:solidFill>
              <a:srgbClr val="4F6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5175504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Unseen + Backdoor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5312664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4F6BED"/>
                </a:solidFill>
                <a:latin typeface="Aptos"/>
              </a:rPr>
              <a:t>soft aggregation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5577840"/>
            <a:ext cx="331012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614416"/>
            <a:ext cx="3236976" cy="164592"/>
          </a:xfrm>
          <a:prstGeom prst="rect">
            <a:avLst/>
          </a:prstGeom>
          <a:solidFill>
            <a:srgbClr val="4CAF50"/>
          </a:solidFill>
          <a:ln w="762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51576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Others + Benign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888736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4CAF50"/>
                </a:solidFill>
                <a:latin typeface="Aptos"/>
              </a:rPr>
              <a:t>retain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51376" y="5577840"/>
            <a:ext cx="3310128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87952" y="5614416"/>
            <a:ext cx="3236976" cy="164592"/>
          </a:xfrm>
          <a:prstGeom prst="rect">
            <a:avLst/>
          </a:prstGeom>
          <a:solidFill>
            <a:srgbClr val="2A9D8F"/>
          </a:solidFill>
          <a:ln w="762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5751576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Unseen + Benign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1104" y="5888736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i="0">
                <a:solidFill>
                  <a:srgbClr val="2A9D8F"/>
                </a:solidFill>
                <a:latin typeface="Aptos"/>
              </a:rPr>
              <a:t>retain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4882896"/>
            <a:ext cx="3675887" cy="1170432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FDE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82712" y="4983480"/>
            <a:ext cx="33467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E76F51"/>
                </a:solidFill>
                <a:latin typeface="Aptos"/>
              </a:rPr>
              <a:t>Soft aggregation rule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5193792"/>
            <a:ext cx="3364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30" b="1" i="0">
                <a:solidFill>
                  <a:srgbClr val="1F2937"/>
                </a:solidFill>
                <a:latin typeface="Cambria Math"/>
              </a:rPr>
              <a:t>w_{t+1} = w_t + δ · Δg*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5440680"/>
            <a:ext cx="3456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0" i="0">
                <a:solidFill>
                  <a:srgbClr val="1F2937"/>
                </a:solidFill>
                <a:latin typeface="Cambria Math"/>
              </a:rPr>
              <a:t>Δg* = (1 − α) · Δg_orig + α · Δg_new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37575" y="5669280"/>
            <a:ext cx="32369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 i="1">
                <a:solidFill>
                  <a:srgbClr val="5B6574"/>
                </a:solidFill>
                <a:latin typeface="Aptos"/>
              </a:rPr>
              <a:t>δ controls the update strength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373368"/>
            <a:ext cx="108813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5B6574"/>
                </a:solidFill>
                <a:latin typeface="Aptos"/>
              </a:rPr>
              <a:t>Lower α_i indicates a higher likelihood of being unseen; higher risk scores indicate more suspicious clients.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Overview</dc:title>
  <dc:subject>Overview flowchart for the proposed defense framework</dc:subject>
  <dc:creator>Codex</dc:creator>
  <cp:keywords/>
  <dc:description>Editable PowerPoint flowchart generated for the user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