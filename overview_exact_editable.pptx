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480792" cy="84947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40280" y="155448"/>
            <a:ext cx="112471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071A58"/>
                </a:solidFill>
                <a:latin typeface="Aptos"/>
              </a:rPr>
              <a:t>Overview of Our Model Utility-Preserving Backdoor Defense Framework for Split Learning under Data Heterogeneity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512064"/>
            <a:ext cx="15023592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6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" y="667512"/>
            <a:ext cx="201168" cy="201168"/>
          </a:xfrm>
          <a:prstGeom prst="ellipse">
            <a:avLst/>
          </a:prstGeom>
          <a:solidFill>
            <a:srgbClr val="A9D89A"/>
          </a:solidFill>
          <a:ln w="10160">
            <a:solidFill>
              <a:srgbClr val="236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630936"/>
            <a:ext cx="123444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70" b="0" i="0">
                <a:solidFill>
                  <a:srgbClr val="000000"/>
                </a:solidFill>
                <a:latin typeface="Aptos"/>
              </a:rPr>
              <a:t>Benign client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Aptos"/>
              </a:rPr>
              <a:t>(regular data)</a:t>
            </a:r>
          </a:p>
        </p:txBody>
      </p:sp>
      <p:sp>
        <p:nvSpPr>
          <p:cNvPr id="6" name="Oval 5"/>
          <p:cNvSpPr/>
          <p:nvPr/>
        </p:nvSpPr>
        <p:spPr>
          <a:xfrm>
            <a:off x="2532888" y="667512"/>
            <a:ext cx="201168" cy="201168"/>
          </a:xfrm>
          <a:prstGeom prst="ellipse">
            <a:avLst/>
          </a:prstGeom>
          <a:solidFill>
            <a:srgbClr val="AFCDF9"/>
          </a:solidFill>
          <a:ln w="1016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52928" y="630936"/>
            <a:ext cx="123444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70" b="0" i="0">
                <a:solidFill>
                  <a:srgbClr val="000000"/>
                </a:solidFill>
                <a:latin typeface="Aptos"/>
              </a:rPr>
              <a:t>Unseen client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Aptos"/>
              </a:rPr>
              <a:t>(benign, novel data)</a:t>
            </a:r>
          </a:p>
        </p:txBody>
      </p:sp>
      <p:sp>
        <p:nvSpPr>
          <p:cNvPr id="8" name="Oval 7"/>
          <p:cNvSpPr/>
          <p:nvPr/>
        </p:nvSpPr>
        <p:spPr>
          <a:xfrm>
            <a:off x="4562855" y="667512"/>
            <a:ext cx="201168" cy="201168"/>
          </a:xfrm>
          <a:prstGeom prst="ellipse">
            <a:avLst/>
          </a:prstGeom>
          <a:solidFill>
            <a:srgbClr val="F4B7AF"/>
          </a:solidFill>
          <a:ln w="10160">
            <a:solidFill>
              <a:srgbClr val="B5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630936"/>
            <a:ext cx="123444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70" b="0" i="0">
                <a:solidFill>
                  <a:srgbClr val="000000"/>
                </a:solidFill>
                <a:latin typeface="Aptos"/>
              </a:rPr>
              <a:t>Malicious client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Aptos"/>
              </a:rPr>
              <a:t>(backdoor attack)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10528" y="758952"/>
            <a:ext cx="4572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Arrow 10"/>
          <p:cNvSpPr/>
          <p:nvPr/>
        </p:nvSpPr>
        <p:spPr>
          <a:xfrm>
            <a:off x="6931152" y="704088"/>
            <a:ext cx="137160" cy="109728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640080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80" b="0" i="0">
                <a:solidFill>
                  <a:srgbClr val="000000"/>
                </a:solidFill>
                <a:latin typeface="Aptos"/>
              </a:rPr>
              <a:t>Forward (activations)  $H_i$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10528" y="987552"/>
            <a:ext cx="4572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Arrow 13"/>
          <p:cNvSpPr/>
          <p:nvPr/>
        </p:nvSpPr>
        <p:spPr>
          <a:xfrm>
            <a:off x="6931152" y="932688"/>
            <a:ext cx="137160" cy="109728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877824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80" b="0" i="0">
                <a:solidFill>
                  <a:srgbClr val="000000"/>
                </a:solidFill>
                <a:latin typeface="Aptos"/>
              </a:rPr>
              <a:t>Backward (gradients)  $T_i$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621792"/>
            <a:ext cx="658368" cy="475488"/>
          </a:xfrm>
          <a:prstGeom prst="roundRect">
            <a:avLst/>
          </a:prstGeom>
          <a:solidFill>
            <a:srgbClr val="F6F9FE"/>
          </a:solidFill>
          <a:ln w="6350">
            <a:solidFill>
              <a:srgbClr val="9AA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0268346" y="707379"/>
            <a:ext cx="197510" cy="33285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65856" y="707379"/>
            <a:ext cx="197511" cy="47549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68346" y="740664"/>
            <a:ext cx="46086" cy="175930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314432" y="707379"/>
            <a:ext cx="151424" cy="209215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65856" y="707379"/>
            <a:ext cx="46086" cy="175931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511942" y="754928"/>
            <a:ext cx="151425" cy="128382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63367" y="754928"/>
            <a:ext cx="26334" cy="209215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314432" y="883310"/>
            <a:ext cx="197510" cy="33284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511942" y="883310"/>
            <a:ext cx="177759" cy="80833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232684" y="705002"/>
            <a:ext cx="71323" cy="71323"/>
          </a:xfrm>
          <a:prstGeom prst="ellipse">
            <a:avLst/>
          </a:prstGeom>
          <a:solidFill>
            <a:srgbClr val="B9CEF7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30195" y="671718"/>
            <a:ext cx="71323" cy="71323"/>
          </a:xfrm>
          <a:prstGeom prst="ellipse">
            <a:avLst/>
          </a:prstGeom>
          <a:solidFill>
            <a:srgbClr val="B9CEF7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27705" y="719267"/>
            <a:ext cx="71323" cy="71323"/>
          </a:xfrm>
          <a:prstGeom prst="ellipse">
            <a:avLst/>
          </a:prstGeom>
          <a:solidFill>
            <a:srgbClr val="B9CEF7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8770" y="880932"/>
            <a:ext cx="71323" cy="71323"/>
          </a:xfrm>
          <a:prstGeom prst="ellipse">
            <a:avLst/>
          </a:prstGeom>
          <a:solidFill>
            <a:srgbClr val="B9CEF7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76280" y="847648"/>
            <a:ext cx="71323" cy="71323"/>
          </a:xfrm>
          <a:prstGeom prst="ellipse">
            <a:avLst/>
          </a:prstGeom>
          <a:solidFill>
            <a:srgbClr val="B9CEF7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54040" y="928481"/>
            <a:ext cx="71323" cy="71323"/>
          </a:xfrm>
          <a:prstGeom prst="ellipse">
            <a:avLst/>
          </a:prstGeom>
          <a:solidFill>
            <a:srgbClr val="B9CEF7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54512" y="649224"/>
            <a:ext cx="148132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80" b="0" i="0">
                <a:solidFill>
                  <a:srgbClr val="000000"/>
                </a:solidFill>
                <a:latin typeface="Aptos"/>
              </a:rPr>
              <a:t>Client-side model  $H_i$</a:t>
            </a:r>
          </a:p>
          <a:p>
            <a:pPr algn="l"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Aptos"/>
              </a:rPr>
              <a:t>(kept on client)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66192" y="621792"/>
            <a:ext cx="658368" cy="475488"/>
          </a:xfrm>
          <a:prstGeom prst="roundRect">
            <a:avLst/>
          </a:prstGeom>
          <a:solidFill>
            <a:srgbClr val="F6F9FE"/>
          </a:solidFill>
          <a:ln w="6350">
            <a:solidFill>
              <a:srgbClr val="9AA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13084698" y="707379"/>
            <a:ext cx="197510" cy="33285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282208" y="707379"/>
            <a:ext cx="197511" cy="47549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084698" y="740664"/>
            <a:ext cx="46086" cy="175930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3130784" y="707379"/>
            <a:ext cx="151424" cy="209215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282208" y="707379"/>
            <a:ext cx="46086" cy="175931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3328294" y="754928"/>
            <a:ext cx="151425" cy="128382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3479719" y="754928"/>
            <a:ext cx="26334" cy="209215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3130784" y="883310"/>
            <a:ext cx="197510" cy="33284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328294" y="883310"/>
            <a:ext cx="177759" cy="80833"/>
          </a:xfrm>
          <a:prstGeom prst="line">
            <a:avLst/>
          </a:prstGeom>
          <a:ln w="6985">
            <a:solidFill>
              <a:srgbClr val="325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3049036" y="705002"/>
            <a:ext cx="71323" cy="71323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246547" y="671718"/>
            <a:ext cx="71323" cy="71323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444057" y="719267"/>
            <a:ext cx="71323" cy="71323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095122" y="880932"/>
            <a:ext cx="71323" cy="71323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292632" y="847648"/>
            <a:ext cx="71323" cy="71323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470392" y="928481"/>
            <a:ext cx="71323" cy="71323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61720" y="649224"/>
            <a:ext cx="114300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80" b="0" i="0">
                <a:solidFill>
                  <a:srgbClr val="000000"/>
                </a:solidFill>
                <a:latin typeface="Aptos"/>
              </a:rPr>
              <a:t>Server-side model  $B$</a:t>
            </a:r>
          </a:p>
          <a:p>
            <a:pPr algn="l">
              <a:spcAft>
                <a:spcPts val="0"/>
              </a:spcAft>
            </a:pPr>
            <a:r>
              <a:rPr sz="1080" b="0" i="0">
                <a:solidFill>
                  <a:srgbClr val="000000"/>
                </a:solidFill>
                <a:latin typeface="Aptos"/>
              </a:rPr>
              <a:t>(kept on server)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7160" y="1481328"/>
            <a:ext cx="3621024" cy="5020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6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0120" y="1325880"/>
            <a:ext cx="1956816" cy="310896"/>
          </a:xfrm>
          <a:prstGeom prst="roundRect">
            <a:avLst/>
          </a:prstGeom>
          <a:solidFill>
            <a:srgbClr val="F2F5FE"/>
          </a:solidFill>
          <a:ln w="10160">
            <a:solidFill>
              <a:srgbClr val="4E6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4712" y="1399032"/>
            <a:ext cx="1627632" cy="1188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80" b="1" i="0">
                <a:solidFill>
                  <a:srgbClr val="071A58"/>
                </a:solidFill>
                <a:latin typeface="Aptos"/>
              </a:rPr>
              <a:t>Split Learning System</a:t>
            </a:r>
          </a:p>
        </p:txBody>
      </p:sp>
      <p:sp>
        <p:nvSpPr>
          <p:cNvPr id="53" name="Cloud 52"/>
          <p:cNvSpPr/>
          <p:nvPr/>
        </p:nvSpPr>
        <p:spPr>
          <a:xfrm>
            <a:off x="704088" y="1856231"/>
            <a:ext cx="2432304" cy="932688"/>
          </a:xfrm>
          <a:prstGeom prst="cloud">
            <a:avLst/>
          </a:prstGeom>
          <a:solidFill>
            <a:srgbClr val="F8FAFF"/>
          </a:solidFill>
          <a:ln w="10160">
            <a:solidFill>
              <a:srgbClr val="4E6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5568" y="1874519"/>
            <a:ext cx="1078992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20" b="1" i="0">
                <a:solidFill>
                  <a:srgbClr val="000000"/>
                </a:solidFill>
                <a:latin typeface="Cambria Math"/>
              </a:rPr>
              <a:t>Server $B$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217615" y="2161275"/>
            <a:ext cx="170078" cy="33285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387693" y="2161275"/>
            <a:ext cx="170078" cy="47549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217615" y="2194560"/>
            <a:ext cx="39685" cy="175930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257300" y="2161275"/>
            <a:ext cx="130393" cy="209215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387693" y="2161275"/>
            <a:ext cx="39685" cy="175931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427378" y="2208824"/>
            <a:ext cx="130393" cy="128382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557771" y="2208824"/>
            <a:ext cx="22677" cy="209215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257300" y="2337206"/>
            <a:ext cx="170078" cy="33284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427378" y="2337206"/>
            <a:ext cx="153070" cy="80833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181953" y="2158898"/>
            <a:ext cx="71323" cy="71323"/>
          </a:xfrm>
          <a:prstGeom prst="ellipse">
            <a:avLst/>
          </a:prstGeom>
          <a:solidFill>
            <a:srgbClr val="808AC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52031" y="2125614"/>
            <a:ext cx="71323" cy="71323"/>
          </a:xfrm>
          <a:prstGeom prst="ellipse">
            <a:avLst/>
          </a:prstGeom>
          <a:solidFill>
            <a:srgbClr val="808AC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22110" y="2173163"/>
            <a:ext cx="71323" cy="71323"/>
          </a:xfrm>
          <a:prstGeom prst="ellipse">
            <a:avLst/>
          </a:prstGeom>
          <a:solidFill>
            <a:srgbClr val="808AC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638" y="2334828"/>
            <a:ext cx="71323" cy="71323"/>
          </a:xfrm>
          <a:prstGeom prst="ellipse">
            <a:avLst/>
          </a:prstGeom>
          <a:solidFill>
            <a:srgbClr val="808AC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391716" y="2301544"/>
            <a:ext cx="71323" cy="71323"/>
          </a:xfrm>
          <a:prstGeom prst="ellipse">
            <a:avLst/>
          </a:prstGeom>
          <a:solidFill>
            <a:srgbClr val="808AC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544787" y="2382377"/>
            <a:ext cx="71323" cy="71323"/>
          </a:xfrm>
          <a:prstGeom prst="ellipse">
            <a:avLst/>
          </a:prstGeom>
          <a:solidFill>
            <a:srgbClr val="808AC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01368" y="2221992"/>
            <a:ext cx="164592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ptos"/>
              </a:rPr>
              <a:t>...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2205167" y="2161275"/>
            <a:ext cx="170078" cy="33285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375245" y="2161275"/>
            <a:ext cx="170078" cy="47549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205167" y="2194560"/>
            <a:ext cx="39684" cy="175930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2244851" y="2161275"/>
            <a:ext cx="130394" cy="209215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375245" y="2161275"/>
            <a:ext cx="39685" cy="175931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2414930" y="2208824"/>
            <a:ext cx="130393" cy="128382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545323" y="2208824"/>
            <a:ext cx="22677" cy="209215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244851" y="2337206"/>
            <a:ext cx="170079" cy="33284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414930" y="2337206"/>
            <a:ext cx="153070" cy="80833"/>
          </a:xfrm>
          <a:prstGeom prst="line">
            <a:avLst/>
          </a:prstGeom>
          <a:ln w="6985">
            <a:solidFill>
              <a:srgbClr val="31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2169505" y="2158898"/>
            <a:ext cx="71323" cy="71323"/>
          </a:xfrm>
          <a:prstGeom prst="ellipse">
            <a:avLst/>
          </a:prstGeom>
          <a:solidFill>
            <a:srgbClr val="6B78C3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339583" y="2125614"/>
            <a:ext cx="71323" cy="71323"/>
          </a:xfrm>
          <a:prstGeom prst="ellipse">
            <a:avLst/>
          </a:prstGeom>
          <a:solidFill>
            <a:srgbClr val="6B78C3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509662" y="2173163"/>
            <a:ext cx="71323" cy="71323"/>
          </a:xfrm>
          <a:prstGeom prst="ellipse">
            <a:avLst/>
          </a:prstGeom>
          <a:solidFill>
            <a:srgbClr val="6B78C3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209190" y="2334828"/>
            <a:ext cx="71323" cy="71323"/>
          </a:xfrm>
          <a:prstGeom prst="ellipse">
            <a:avLst/>
          </a:prstGeom>
          <a:solidFill>
            <a:srgbClr val="6B78C3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379268" y="2301544"/>
            <a:ext cx="71323" cy="71323"/>
          </a:xfrm>
          <a:prstGeom prst="ellipse">
            <a:avLst/>
          </a:prstGeom>
          <a:solidFill>
            <a:srgbClr val="6B78C3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532339" y="2382377"/>
            <a:ext cx="71323" cy="71323"/>
          </a:xfrm>
          <a:prstGeom prst="ellipse">
            <a:avLst/>
          </a:prstGeom>
          <a:solidFill>
            <a:srgbClr val="6B78C3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411480" y="2862072"/>
            <a:ext cx="0" cy="493776"/>
          </a:xfrm>
          <a:prstGeom prst="line">
            <a:avLst/>
          </a:prstGeom>
          <a:ln w="12700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>
            <a:off x="361188" y="3273552"/>
            <a:ext cx="100584" cy="164592"/>
          </a:xfrm>
          <a:prstGeom prst="downArrow">
            <a:avLst/>
          </a:prstGeom>
          <a:solidFill>
            <a:srgbClr val="11529C"/>
          </a:solidFill>
          <a:ln w="254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612648" y="2862072"/>
            <a:ext cx="0" cy="4846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own Arrow 88"/>
          <p:cNvSpPr/>
          <p:nvPr/>
        </p:nvSpPr>
        <p:spPr>
          <a:xfrm>
            <a:off x="562356" y="3264408"/>
            <a:ext cx="100584" cy="164592"/>
          </a:xfrm>
          <a:prstGeom prst="down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298448" y="2862072"/>
            <a:ext cx="0" cy="493776"/>
          </a:xfrm>
          <a:prstGeom prst="line">
            <a:avLst/>
          </a:prstGeom>
          <a:ln w="12700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wn Arrow 90"/>
          <p:cNvSpPr/>
          <p:nvPr/>
        </p:nvSpPr>
        <p:spPr>
          <a:xfrm>
            <a:off x="1248156" y="3273552"/>
            <a:ext cx="100584" cy="164592"/>
          </a:xfrm>
          <a:prstGeom prst="downArrow">
            <a:avLst/>
          </a:prstGeom>
          <a:solidFill>
            <a:srgbClr val="11529C"/>
          </a:solidFill>
          <a:ln w="254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1499616" y="2862072"/>
            <a:ext cx="0" cy="4846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Down Arrow 92"/>
          <p:cNvSpPr/>
          <p:nvPr/>
        </p:nvSpPr>
        <p:spPr>
          <a:xfrm>
            <a:off x="1449324" y="3264408"/>
            <a:ext cx="100584" cy="164592"/>
          </a:xfrm>
          <a:prstGeom prst="down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176272" y="2862072"/>
            <a:ext cx="0" cy="493776"/>
          </a:xfrm>
          <a:prstGeom prst="line">
            <a:avLst/>
          </a:prstGeom>
          <a:ln w="12700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Down Arrow 94"/>
          <p:cNvSpPr/>
          <p:nvPr/>
        </p:nvSpPr>
        <p:spPr>
          <a:xfrm>
            <a:off x="2125979" y="3273552"/>
            <a:ext cx="100584" cy="164592"/>
          </a:xfrm>
          <a:prstGeom prst="downArrow">
            <a:avLst/>
          </a:prstGeom>
          <a:solidFill>
            <a:srgbClr val="11529C"/>
          </a:solidFill>
          <a:ln w="254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377440" y="2862072"/>
            <a:ext cx="0" cy="4846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Down Arrow 96"/>
          <p:cNvSpPr/>
          <p:nvPr/>
        </p:nvSpPr>
        <p:spPr>
          <a:xfrm>
            <a:off x="2327148" y="3264408"/>
            <a:ext cx="100584" cy="164592"/>
          </a:xfrm>
          <a:prstGeom prst="down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3108960" y="2862072"/>
            <a:ext cx="0" cy="493776"/>
          </a:xfrm>
          <a:prstGeom prst="line">
            <a:avLst/>
          </a:prstGeom>
          <a:ln w="12700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Down Arrow 98"/>
          <p:cNvSpPr/>
          <p:nvPr/>
        </p:nvSpPr>
        <p:spPr>
          <a:xfrm>
            <a:off x="3058668" y="3273552"/>
            <a:ext cx="100584" cy="164592"/>
          </a:xfrm>
          <a:prstGeom prst="downArrow">
            <a:avLst/>
          </a:prstGeom>
          <a:solidFill>
            <a:srgbClr val="11529C"/>
          </a:solidFill>
          <a:ln w="254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3310128" y="2862072"/>
            <a:ext cx="0" cy="4846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Down Arrow 100"/>
          <p:cNvSpPr/>
          <p:nvPr/>
        </p:nvSpPr>
        <p:spPr>
          <a:xfrm>
            <a:off x="3259836" y="3264408"/>
            <a:ext cx="100584" cy="164592"/>
          </a:xfrm>
          <a:prstGeom prst="down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92024" y="3429000"/>
            <a:ext cx="621792" cy="2121408"/>
          </a:xfrm>
          <a:prstGeom prst="roundRect">
            <a:avLst/>
          </a:prstGeom>
          <a:solidFill>
            <a:srgbClr val="F4FAF0"/>
          </a:solidFill>
          <a:ln w="7620">
            <a:solidFill>
              <a:srgbClr val="236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5176" y="3547872"/>
            <a:ext cx="47548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90" b="1" i="0">
                <a:solidFill>
                  <a:srgbClr val="236B19"/>
                </a:solidFill>
                <a:latin typeface="Aptos"/>
              </a:rPr>
              <a:t>Client 1</a:t>
            </a:r>
          </a:p>
          <a:p>
            <a:pPr algn="ctr">
              <a:spcAft>
                <a:spcPts val="0"/>
              </a:spcAft>
            </a:pPr>
            <a:r>
              <a:rPr sz="890" b="1" i="0">
                <a:solidFill>
                  <a:srgbClr val="236B19"/>
                </a:solidFill>
                <a:latin typeface="Aptos"/>
              </a:rPr>
              <a:t>(benign)</a:t>
            </a:r>
          </a:p>
        </p:txBody>
      </p:sp>
      <p:cxnSp>
        <p:nvCxnSpPr>
          <p:cNvPr id="104" name="Connector 103"/>
          <p:cNvCxnSpPr/>
          <p:nvPr/>
        </p:nvCxnSpPr>
        <p:spPr>
          <a:xfrm flipV="1">
            <a:off x="385876" y="4066519"/>
            <a:ext cx="109728" cy="34564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95604" y="4066519"/>
            <a:ext cx="109728" cy="49378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85876" y="4101083"/>
            <a:ext cx="25603" cy="182698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411479" y="4066519"/>
            <a:ext cx="84125" cy="217262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95604" y="4066519"/>
            <a:ext cx="25604" cy="182697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521208" y="4115897"/>
            <a:ext cx="84124" cy="133319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5332" y="4115897"/>
            <a:ext cx="14631" cy="217261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11479" y="4249216"/>
            <a:ext cx="109729" cy="34565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21208" y="4249216"/>
            <a:ext cx="98755" cy="83942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358444" y="4073651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68172" y="4039087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77900" y="4088465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84047" y="4256349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93776" y="4221784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531" y="4305726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Can 118"/>
          <p:cNvSpPr/>
          <p:nvPr/>
        </p:nvSpPr>
        <p:spPr>
          <a:xfrm>
            <a:off x="365760" y="4745736"/>
            <a:ext cx="274320" cy="310896"/>
          </a:xfrm>
          <a:prstGeom prst="can">
            <a:avLst/>
          </a:prstGeom>
          <a:solidFill>
            <a:srgbClr val="A9D89A"/>
          </a:solidFill>
          <a:ln w="8890">
            <a:solidFill>
              <a:srgbClr val="236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434340" y="4876312"/>
            <a:ext cx="137160" cy="0"/>
          </a:xfrm>
          <a:prstGeom prst="line">
            <a:avLst/>
          </a:prstGeom>
          <a:ln w="444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34340" y="4938491"/>
            <a:ext cx="137160" cy="0"/>
          </a:xfrm>
          <a:prstGeom prst="line">
            <a:avLst/>
          </a:prstGeom>
          <a:ln w="444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265176" y="5111496"/>
            <a:ext cx="475488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000000"/>
                </a:solidFill>
                <a:latin typeface="Aptos"/>
              </a:rPr>
              <a:t>Regular</a:t>
            </a:r>
          </a:p>
          <a:p>
            <a:pPr algn="ctr"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Aptos"/>
              </a:rPr>
              <a:t>Data $D_1$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60704" y="3429000"/>
            <a:ext cx="621792" cy="2121408"/>
          </a:xfrm>
          <a:prstGeom prst="roundRect">
            <a:avLst/>
          </a:prstGeom>
          <a:solidFill>
            <a:srgbClr val="F4FAF0"/>
          </a:solidFill>
          <a:ln w="7620">
            <a:solidFill>
              <a:srgbClr val="236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33856" y="3547872"/>
            <a:ext cx="47548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90" b="1" i="0">
                <a:solidFill>
                  <a:srgbClr val="236B19"/>
                </a:solidFill>
                <a:latin typeface="Aptos"/>
              </a:rPr>
              <a:t>Client $k$</a:t>
            </a:r>
          </a:p>
          <a:p>
            <a:pPr algn="ctr">
              <a:spcAft>
                <a:spcPts val="0"/>
              </a:spcAft>
            </a:pPr>
            <a:r>
              <a:rPr sz="890" b="1" i="0">
                <a:solidFill>
                  <a:srgbClr val="236B19"/>
                </a:solidFill>
                <a:latin typeface="Aptos"/>
              </a:rPr>
              <a:t>(benign)</a:t>
            </a:r>
          </a:p>
        </p:txBody>
      </p:sp>
      <p:cxnSp>
        <p:nvCxnSpPr>
          <p:cNvPr id="125" name="Connector 124"/>
          <p:cNvCxnSpPr/>
          <p:nvPr/>
        </p:nvCxnSpPr>
        <p:spPr>
          <a:xfrm flipV="1">
            <a:off x="1254556" y="4066519"/>
            <a:ext cx="109728" cy="34564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364284" y="4066519"/>
            <a:ext cx="109728" cy="49378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254556" y="4101083"/>
            <a:ext cx="25604" cy="182698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280160" y="4066519"/>
            <a:ext cx="84124" cy="217262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364284" y="4066519"/>
            <a:ext cx="25603" cy="182697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389887" y="4115897"/>
            <a:ext cx="84125" cy="133319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474012" y="4115897"/>
            <a:ext cx="14631" cy="217261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280160" y="4249216"/>
            <a:ext cx="109727" cy="34565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389887" y="4249216"/>
            <a:ext cx="98756" cy="83942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1227124" y="4073651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336852" y="4039087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446580" y="4088465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252728" y="4256349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362455" y="4221784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461211" y="4305726"/>
            <a:ext cx="54864" cy="54864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Can 139"/>
          <p:cNvSpPr/>
          <p:nvPr/>
        </p:nvSpPr>
        <p:spPr>
          <a:xfrm>
            <a:off x="1234439" y="4745736"/>
            <a:ext cx="274320" cy="310896"/>
          </a:xfrm>
          <a:prstGeom prst="can">
            <a:avLst/>
          </a:prstGeom>
          <a:solidFill>
            <a:srgbClr val="A9D89A"/>
          </a:solidFill>
          <a:ln w="8890">
            <a:solidFill>
              <a:srgbClr val="236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1303019" y="4876312"/>
            <a:ext cx="137161" cy="0"/>
          </a:xfrm>
          <a:prstGeom prst="line">
            <a:avLst/>
          </a:prstGeom>
          <a:ln w="444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303019" y="4938491"/>
            <a:ext cx="137161" cy="0"/>
          </a:xfrm>
          <a:prstGeom prst="line">
            <a:avLst/>
          </a:prstGeom>
          <a:ln w="444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1133856" y="5111496"/>
            <a:ext cx="475488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000000"/>
                </a:solidFill>
                <a:latin typeface="Aptos"/>
              </a:rPr>
              <a:t>Regular</a:t>
            </a:r>
          </a:p>
          <a:p>
            <a:pPr algn="ctr"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Aptos"/>
              </a:rPr>
              <a:t>Data $D_k$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965960" y="3429000"/>
            <a:ext cx="713232" cy="2121408"/>
          </a:xfrm>
          <a:prstGeom prst="roundRect">
            <a:avLst/>
          </a:prstGeom>
          <a:solidFill>
            <a:srgbClr val="F4F8FF"/>
          </a:solidFill>
          <a:ln w="762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039112" y="3547872"/>
            <a:ext cx="56692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90" b="1" i="0">
                <a:solidFill>
                  <a:srgbClr val="11529C"/>
                </a:solidFill>
                <a:latin typeface="Aptos"/>
              </a:rPr>
              <a:t>Client $u$</a:t>
            </a:r>
          </a:p>
          <a:p>
            <a:pPr algn="ctr">
              <a:spcAft>
                <a:spcPts val="0"/>
              </a:spcAft>
            </a:pPr>
            <a:r>
              <a:rPr sz="890" b="1" i="0">
                <a:solidFill>
                  <a:srgbClr val="11529C"/>
                </a:solidFill>
                <a:latin typeface="Aptos"/>
              </a:rPr>
              <a:t>(unseen)</a:t>
            </a:r>
          </a:p>
        </p:txBody>
      </p:sp>
      <p:cxnSp>
        <p:nvCxnSpPr>
          <p:cNvPr id="146" name="Connector 145"/>
          <p:cNvCxnSpPr/>
          <p:nvPr/>
        </p:nvCxnSpPr>
        <p:spPr>
          <a:xfrm flipV="1">
            <a:off x="2176272" y="4066519"/>
            <a:ext cx="137160" cy="34564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313432" y="4066519"/>
            <a:ext cx="137160" cy="49378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176272" y="4101083"/>
            <a:ext cx="32004" cy="182698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2208276" y="4066519"/>
            <a:ext cx="105156" cy="217262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313432" y="4066519"/>
            <a:ext cx="32004" cy="182697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2345436" y="4115897"/>
            <a:ext cx="105156" cy="133319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450592" y="4115897"/>
            <a:ext cx="18288" cy="217261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208276" y="4249216"/>
            <a:ext cx="137160" cy="34565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345436" y="4249216"/>
            <a:ext cx="123444" cy="83942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2141982" y="4066794"/>
            <a:ext cx="68580" cy="68580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2279142" y="4032229"/>
            <a:ext cx="68580" cy="68580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416302" y="4081607"/>
            <a:ext cx="68580" cy="68580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173986" y="4249491"/>
            <a:ext cx="68580" cy="68580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311146" y="4214926"/>
            <a:ext cx="68580" cy="68580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434590" y="4298868"/>
            <a:ext cx="68580" cy="68580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an 160"/>
          <p:cNvSpPr/>
          <p:nvPr/>
        </p:nvSpPr>
        <p:spPr>
          <a:xfrm>
            <a:off x="2139696" y="4745736"/>
            <a:ext cx="365760" cy="310896"/>
          </a:xfrm>
          <a:prstGeom prst="can">
            <a:avLst/>
          </a:prstGeom>
          <a:solidFill>
            <a:srgbClr val="AFCDF9"/>
          </a:solidFill>
          <a:ln w="889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2231136" y="4876312"/>
            <a:ext cx="182879" cy="0"/>
          </a:xfrm>
          <a:prstGeom prst="line">
            <a:avLst/>
          </a:prstGeom>
          <a:ln w="444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231136" y="4938491"/>
            <a:ext cx="182879" cy="0"/>
          </a:xfrm>
          <a:prstGeom prst="line">
            <a:avLst/>
          </a:prstGeom>
          <a:ln w="444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2039112" y="5111496"/>
            <a:ext cx="566928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000000"/>
                </a:solidFill>
                <a:latin typeface="Aptos"/>
              </a:rPr>
              <a:t>Unseen / New</a:t>
            </a:r>
          </a:p>
          <a:p>
            <a:pPr algn="ctr"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Aptos"/>
              </a:rPr>
              <a:t>Data $D_u$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880360" y="3429000"/>
            <a:ext cx="758952" cy="2167128"/>
          </a:xfrm>
          <a:prstGeom prst="roundRect">
            <a:avLst/>
          </a:prstGeom>
          <a:solidFill>
            <a:srgbClr val="FFF5F3"/>
          </a:solidFill>
          <a:ln w="7620">
            <a:solidFill>
              <a:srgbClr val="B5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953512" y="3547872"/>
            <a:ext cx="612647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90" b="1" i="0">
                <a:solidFill>
                  <a:srgbClr val="B51111"/>
                </a:solidFill>
                <a:latin typeface="Aptos"/>
              </a:rPr>
              <a:t>Client $m$</a:t>
            </a:r>
          </a:p>
          <a:p>
            <a:pPr algn="ctr">
              <a:spcAft>
                <a:spcPts val="0"/>
              </a:spcAft>
            </a:pPr>
            <a:r>
              <a:rPr sz="890" b="1" i="0">
                <a:solidFill>
                  <a:srgbClr val="B51111"/>
                </a:solidFill>
                <a:latin typeface="Aptos"/>
              </a:rPr>
              <a:t>(malicious)</a:t>
            </a:r>
          </a:p>
        </p:txBody>
      </p:sp>
      <p:cxnSp>
        <p:nvCxnSpPr>
          <p:cNvPr id="167" name="Connector 166"/>
          <p:cNvCxnSpPr/>
          <p:nvPr/>
        </p:nvCxnSpPr>
        <p:spPr>
          <a:xfrm flipV="1">
            <a:off x="3098901" y="4066519"/>
            <a:ext cx="150876" cy="34564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249777" y="4066519"/>
            <a:ext cx="150876" cy="49378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098901" y="4101083"/>
            <a:ext cx="35205" cy="182698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3134106" y="4066519"/>
            <a:ext cx="115671" cy="217262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249777" y="4066519"/>
            <a:ext cx="35205" cy="182697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3284982" y="4115897"/>
            <a:ext cx="115671" cy="133319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3400653" y="4115897"/>
            <a:ext cx="20117" cy="217261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3134106" y="4249216"/>
            <a:ext cx="150876" cy="34565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3284982" y="4249216"/>
            <a:ext cx="135788" cy="83942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3061868" y="4064050"/>
            <a:ext cx="74066" cy="74066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12744" y="4029486"/>
            <a:ext cx="74066" cy="74066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363620" y="4078864"/>
            <a:ext cx="74066" cy="74066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097072" y="4246747"/>
            <a:ext cx="74066" cy="74066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247948" y="4212183"/>
            <a:ext cx="74066" cy="74066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383737" y="4296125"/>
            <a:ext cx="74066" cy="74066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Can 181"/>
          <p:cNvSpPr/>
          <p:nvPr/>
        </p:nvSpPr>
        <p:spPr>
          <a:xfrm>
            <a:off x="3054096" y="4745736"/>
            <a:ext cx="411479" cy="310896"/>
          </a:xfrm>
          <a:prstGeom prst="can">
            <a:avLst/>
          </a:prstGeom>
          <a:solidFill>
            <a:srgbClr val="F4B7AF"/>
          </a:solidFill>
          <a:ln w="8890">
            <a:solidFill>
              <a:srgbClr val="B5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3156965" y="4876312"/>
            <a:ext cx="205741" cy="0"/>
          </a:xfrm>
          <a:prstGeom prst="line">
            <a:avLst/>
          </a:prstGeom>
          <a:ln w="444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156965" y="4938491"/>
            <a:ext cx="205741" cy="0"/>
          </a:xfrm>
          <a:prstGeom prst="line">
            <a:avLst/>
          </a:prstGeom>
          <a:ln w="444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953512" y="5111496"/>
            <a:ext cx="612647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000000"/>
                </a:solidFill>
                <a:latin typeface="Aptos"/>
              </a:rPr>
              <a:t>Poisoned</a:t>
            </a:r>
          </a:p>
          <a:p>
            <a:pPr algn="ctr"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Aptos"/>
              </a:rPr>
              <a:t>Data $D_m$</a:t>
            </a:r>
          </a:p>
          <a:p>
            <a:pPr algn="ctr"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Aptos"/>
              </a:rPr>
              <a:t>(trigger)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77824" y="4187952"/>
            <a:ext cx="137160" cy="1371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ptos"/>
              </a:rPr>
              <a:t>...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724912" y="4187952"/>
            <a:ext cx="137160" cy="1371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ptos"/>
              </a:rPr>
              <a:t>...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219456" y="5705856"/>
            <a:ext cx="342900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AA8C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92608" y="5833872"/>
            <a:ext cx="3218688" cy="4023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60" b="0" i="0">
                <a:solidFill>
                  <a:srgbClr val="000000"/>
                </a:solidFill>
                <a:latin typeface="Aptos"/>
              </a:rPr>
              <a:t>• Clients keep their raw data and client-side model locally.</a:t>
            </a:r>
          </a:p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000000"/>
                </a:solidFill>
                <a:latin typeface="Aptos"/>
              </a:rPr>
              <a:t>• Only intermediate activations $H_i$ are sent to the server.</a:t>
            </a:r>
          </a:p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000000"/>
                </a:solidFill>
                <a:latin typeface="Aptos"/>
              </a:rPr>
              <a:t>• Gradients $T_i$ are returned to clients for local update.</a:t>
            </a:r>
          </a:p>
        </p:txBody>
      </p:sp>
      <p:sp>
        <p:nvSpPr>
          <p:cNvPr id="190" name="Right Arrow 189"/>
          <p:cNvSpPr/>
          <p:nvPr/>
        </p:nvSpPr>
        <p:spPr>
          <a:xfrm>
            <a:off x="3703320" y="3200400"/>
            <a:ext cx="256032" cy="146304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3931920" y="1463040"/>
            <a:ext cx="896112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6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391656" y="1371600"/>
            <a:ext cx="333756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50" b="1" i="0">
                <a:solidFill>
                  <a:srgbClr val="071A58"/>
                </a:solidFill>
                <a:latin typeface="Aptos"/>
              </a:rPr>
              <a:t>Our Two-Phase Defense Framework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4050791" y="1664208"/>
            <a:ext cx="3977639" cy="4096512"/>
          </a:xfrm>
          <a:prstGeom prst="roundRect">
            <a:avLst/>
          </a:prstGeom>
          <a:solidFill>
            <a:srgbClr val="F4FAF0"/>
          </a:solidFill>
          <a:ln w="10160">
            <a:solidFill>
              <a:srgbClr val="A8C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17720" y="1746504"/>
            <a:ext cx="2798064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10" b="1" i="0">
                <a:solidFill>
                  <a:srgbClr val="143B12"/>
                </a:solidFill>
                <a:latin typeface="Aptos"/>
              </a:rPr>
              <a:t>Phase 1: Unseen Client Separation and</a:t>
            </a:r>
          </a:p>
          <a:p>
            <a:pPr algn="ctr">
              <a:spcAft>
                <a:spcPts val="0"/>
              </a:spcAft>
            </a:pPr>
            <a:r>
              <a:rPr sz="1210" b="1" i="0">
                <a:solidFill>
                  <a:srgbClr val="143B12"/>
                </a:solidFill>
                <a:latin typeface="Aptos"/>
              </a:rPr>
              <a:t>Confidence Score Assignment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4059936" y="2139696"/>
            <a:ext cx="3968495" cy="0"/>
          </a:xfrm>
          <a:prstGeom prst="line">
            <a:avLst/>
          </a:prstGeom>
          <a:ln w="8890">
            <a:solidFill>
              <a:srgbClr val="C6D6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ounded Rectangle 195"/>
          <p:cNvSpPr/>
          <p:nvPr/>
        </p:nvSpPr>
        <p:spPr>
          <a:xfrm>
            <a:off x="4160520" y="2286000"/>
            <a:ext cx="1618488" cy="2715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8C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572000" y="2359152"/>
            <a:ext cx="74980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90" b="1" i="0">
                <a:solidFill>
                  <a:srgbClr val="000000"/>
                </a:solidFill>
                <a:latin typeface="Aptos"/>
              </a:rPr>
              <a:t>For each client $i$</a:t>
            </a:r>
          </a:p>
          <a:p>
            <a:pPr algn="ctr">
              <a:spcAft>
                <a:spcPts val="0"/>
              </a:spcAft>
            </a:pPr>
            <a:r>
              <a:rPr sz="790" b="1" i="0">
                <a:solidFill>
                  <a:srgbClr val="000000"/>
                </a:solidFill>
                <a:latin typeface="Aptos"/>
              </a:rPr>
              <a:t>extract candidate features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4297680" y="3209544"/>
            <a:ext cx="347472" cy="0"/>
          </a:xfrm>
          <a:prstGeom prst="line">
            <a:avLst/>
          </a:prstGeom>
          <a:ln w="571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4297680" y="2880360"/>
            <a:ext cx="0" cy="329184"/>
          </a:xfrm>
          <a:prstGeom prst="line">
            <a:avLst/>
          </a:prstGeom>
          <a:ln w="571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4334256" y="3143707"/>
            <a:ext cx="26626" cy="65836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370201" y="3028492"/>
            <a:ext cx="26626" cy="181051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406146" y="3094329"/>
            <a:ext cx="26626" cy="115214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442092" y="2939613"/>
            <a:ext cx="26626" cy="269930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478037" y="3051535"/>
            <a:ext cx="26626" cy="158008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513982" y="3110788"/>
            <a:ext cx="26626" cy="98755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549928" y="2979115"/>
            <a:ext cx="26626" cy="230428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585873" y="3077870"/>
            <a:ext cx="26626" cy="131673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621819" y="3137123"/>
            <a:ext cx="26626" cy="72420"/>
          </a:xfrm>
          <a:prstGeom prst="rect">
            <a:avLst/>
          </a:prstGeom>
          <a:solidFill>
            <a:srgbClr val="333333"/>
          </a:solidFill>
          <a:ln w="25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663440" y="2871216"/>
            <a:ext cx="960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20" b="0" i="0">
                <a:solidFill>
                  <a:srgbClr val="000000"/>
                </a:solidFill>
                <a:latin typeface="Aptos"/>
              </a:rPr>
              <a:t>(1) Gradient Sparsity</a:t>
            </a:r>
          </a:p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000000"/>
                </a:solidFill>
                <a:latin typeface="Aptos"/>
              </a:rPr>
              <a:t>(Model Update)</a:t>
            </a:r>
          </a:p>
        </p:txBody>
      </p:sp>
      <p:cxnSp>
        <p:nvCxnSpPr>
          <p:cNvPr id="210" name="Connector 209"/>
          <p:cNvCxnSpPr/>
          <p:nvPr/>
        </p:nvCxnSpPr>
        <p:spPr>
          <a:xfrm flipV="1">
            <a:off x="4325112" y="3511296"/>
            <a:ext cx="320040" cy="283464"/>
          </a:xfrm>
          <a:prstGeom prst="line">
            <a:avLst/>
          </a:prstGeom>
          <a:ln w="698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4334255" y="3673693"/>
            <a:ext cx="137161" cy="111923"/>
          </a:xfrm>
          <a:prstGeom prst="line">
            <a:avLst/>
          </a:prstGeom>
          <a:ln w="698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4334255" y="3555552"/>
            <a:ext cx="98756" cy="230064"/>
          </a:xfrm>
          <a:prstGeom prst="line">
            <a:avLst/>
          </a:prstGeom>
          <a:ln w="698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Oval 212"/>
          <p:cNvSpPr/>
          <p:nvPr/>
        </p:nvSpPr>
        <p:spPr>
          <a:xfrm>
            <a:off x="4336084" y="3760012"/>
            <a:ext cx="32918" cy="3291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454956" y="3657234"/>
            <a:ext cx="32918" cy="3291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416552" y="3539093"/>
            <a:ext cx="32918" cy="3291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619548" y="3503980"/>
            <a:ext cx="32918" cy="32918"/>
          </a:xfrm>
          <a:prstGeom prst="ellipse">
            <a:avLst/>
          </a:prstGeom>
          <a:solidFill>
            <a:srgbClr val="111111"/>
          </a:solidFill>
          <a:ln w="889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663440" y="3502152"/>
            <a:ext cx="960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20" b="0" i="0">
                <a:solidFill>
                  <a:srgbClr val="000000"/>
                </a:solidFill>
                <a:latin typeface="Aptos"/>
              </a:rPr>
              <a:t>(2) Direction Consistency</a:t>
            </a:r>
          </a:p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000000"/>
                </a:solidFill>
                <a:latin typeface="Aptos"/>
              </a:rPr>
              <a:t>(Model Update)</a:t>
            </a:r>
          </a:p>
        </p:txBody>
      </p:sp>
      <p:cxnSp>
        <p:nvCxnSpPr>
          <p:cNvPr id="218" name="Connector 217"/>
          <p:cNvCxnSpPr/>
          <p:nvPr/>
        </p:nvCxnSpPr>
        <p:spPr>
          <a:xfrm flipV="1">
            <a:off x="4288536" y="4414064"/>
            <a:ext cx="22591" cy="1947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311127" y="4407299"/>
            <a:ext cx="22591" cy="6765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333718" y="4388756"/>
            <a:ext cx="22591" cy="18543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356309" y="4349107"/>
            <a:ext cx="22591" cy="39649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378900" y="4284377"/>
            <a:ext cx="22591" cy="64730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4401491" y="4207340"/>
            <a:ext cx="22591" cy="77037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424082" y="4149090"/>
            <a:ext cx="22591" cy="58250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446673" y="4140382"/>
            <a:ext cx="22591" cy="8708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4469264" y="4140382"/>
            <a:ext cx="22591" cy="45851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491855" y="4186233"/>
            <a:ext cx="22591" cy="75181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514446" y="4261414"/>
            <a:ext cx="22591" cy="70737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537037" y="4332151"/>
            <a:ext cx="22591" cy="47314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559628" y="4379465"/>
            <a:ext cx="22591" cy="23925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582219" y="4403390"/>
            <a:ext cx="22591" cy="9389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4604810" y="4412779"/>
            <a:ext cx="22591" cy="2899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4627401" y="4415678"/>
            <a:ext cx="22591" cy="710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649992" y="4416388"/>
            <a:ext cx="22592" cy="139"/>
          </a:xfrm>
          <a:prstGeom prst="line">
            <a:avLst/>
          </a:prstGeom>
          <a:ln w="571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288536" y="4416552"/>
            <a:ext cx="384048" cy="0"/>
          </a:xfrm>
          <a:prstGeom prst="line">
            <a:avLst/>
          </a:prstGeom>
          <a:ln w="508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288536" y="4087368"/>
            <a:ext cx="0" cy="329184"/>
          </a:xfrm>
          <a:prstGeom prst="line">
            <a:avLst/>
          </a:prstGeom>
          <a:ln w="508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4663440" y="4087368"/>
            <a:ext cx="960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20" b="0" i="0">
                <a:solidFill>
                  <a:srgbClr val="000000"/>
                </a:solidFill>
                <a:latin typeface="Aptos"/>
              </a:rPr>
              <a:t>(3) Frequency Discrepancy</a:t>
            </a:r>
          </a:p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000000"/>
                </a:solidFill>
                <a:latin typeface="Aptos"/>
              </a:rPr>
              <a:t>(Model Intrinsic)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855464" y="4709160"/>
            <a:ext cx="256032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ptos"/>
              </a:rPr>
              <a:t>...</a:t>
            </a:r>
          </a:p>
        </p:txBody>
      </p:sp>
      <p:sp>
        <p:nvSpPr>
          <p:cNvPr id="239" name="Right Arrow 238"/>
          <p:cNvSpPr/>
          <p:nvPr/>
        </p:nvSpPr>
        <p:spPr>
          <a:xfrm>
            <a:off x="5760720" y="2788920"/>
            <a:ext cx="256032" cy="128016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6016752" y="2286000"/>
            <a:ext cx="1764792" cy="10789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8C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217920" y="2377440"/>
            <a:ext cx="135331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ptos"/>
              </a:rPr>
              <a:t>Robust Normalization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ptos"/>
              </a:rPr>
              <a:t>(Median &amp; MAD)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6437376" y="3264408"/>
            <a:ext cx="877824" cy="0"/>
          </a:xfrm>
          <a:prstGeom prst="line">
            <a:avLst/>
          </a:prstGeom>
          <a:ln w="5715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6700723" y="2813608"/>
            <a:ext cx="0" cy="450800"/>
          </a:xfrm>
          <a:prstGeom prst="line">
            <a:avLst/>
          </a:prstGeom>
          <a:ln w="5715">
            <a:solidFill>
              <a:srgbClr val="E0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6920179" y="2813608"/>
            <a:ext cx="0" cy="450800"/>
          </a:xfrm>
          <a:prstGeom prst="line">
            <a:avLst/>
          </a:prstGeom>
          <a:ln w="5715">
            <a:solidFill>
              <a:srgbClr val="E0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7139635" y="2813608"/>
            <a:ext cx="0" cy="450800"/>
          </a:xfrm>
          <a:prstGeom prst="line">
            <a:avLst/>
          </a:prstGeom>
          <a:ln w="5715">
            <a:solidFill>
              <a:srgbClr val="E0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6437376" y="3264407"/>
            <a:ext cx="28316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6465692" y="3264407"/>
            <a:ext cx="28317" cy="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6494009" y="3264405"/>
            <a:ext cx="28317" cy="2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6522326" y="3264396"/>
            <a:ext cx="28317" cy="9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6550643" y="3264353"/>
            <a:ext cx="28317" cy="43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6578960" y="3264183"/>
            <a:ext cx="28317" cy="17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6607277" y="3263584"/>
            <a:ext cx="28317" cy="599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6635594" y="3261737"/>
            <a:ext cx="28317" cy="1847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6663911" y="3256755"/>
            <a:ext cx="28317" cy="4982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6692228" y="3245018"/>
            <a:ext cx="28317" cy="11737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6720545" y="3220969"/>
            <a:ext cx="28316" cy="24049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6748861" y="3178367"/>
            <a:ext cx="28317" cy="42602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6777178" y="3113732"/>
            <a:ext cx="28317" cy="64635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6805495" y="3031114"/>
            <a:ext cx="28317" cy="82618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6833812" y="2945047"/>
            <a:ext cx="28317" cy="86067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6862129" y="2877883"/>
            <a:ext cx="28317" cy="67164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6890446" y="2850797"/>
            <a:ext cx="28317" cy="27086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6918763" y="2850797"/>
            <a:ext cx="28317" cy="22297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6947080" y="2873094"/>
            <a:ext cx="28317" cy="6399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975397" y="2937084"/>
            <a:ext cx="28317" cy="8525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7003714" y="3022334"/>
            <a:ext cx="28316" cy="83790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7032030" y="3106124"/>
            <a:ext cx="28317" cy="66779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7060347" y="3172903"/>
            <a:ext cx="28317" cy="44734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7088664" y="3217637"/>
            <a:ext cx="28317" cy="25635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7116981" y="3243272"/>
            <a:ext cx="28317" cy="12691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7145298" y="3255963"/>
            <a:ext cx="28317" cy="5461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7173615" y="3261424"/>
            <a:ext cx="28317" cy="2052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7201932" y="3263476"/>
            <a:ext cx="28317" cy="674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7230249" y="3264150"/>
            <a:ext cx="28317" cy="195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7258566" y="3264345"/>
            <a:ext cx="28317" cy="49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7286883" y="3264394"/>
            <a:ext cx="28317" cy="11"/>
          </a:xfrm>
          <a:prstGeom prst="line">
            <a:avLst/>
          </a:prstGeom>
          <a:ln w="762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Down Arrow 276"/>
          <p:cNvSpPr/>
          <p:nvPr/>
        </p:nvSpPr>
        <p:spPr>
          <a:xfrm>
            <a:off x="6812280" y="3355848"/>
            <a:ext cx="128016" cy="274320"/>
          </a:xfrm>
          <a:prstGeom prst="down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ounded Rectangle 277"/>
          <p:cNvSpPr/>
          <p:nvPr/>
        </p:nvSpPr>
        <p:spPr>
          <a:xfrm>
            <a:off x="5879592" y="3547872"/>
            <a:ext cx="2029968" cy="9052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8C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126480" y="3675887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19" b="1" i="0">
                <a:solidFill>
                  <a:srgbClr val="000000"/>
                </a:solidFill>
                <a:latin typeface="Aptos"/>
              </a:rPr>
              <a:t>Deviation Score $Z_i$</a:t>
            </a:r>
          </a:p>
          <a:p>
            <a:pPr algn="ctr">
              <a:spcAft>
                <a:spcPts val="0"/>
              </a:spcAft>
            </a:pPr>
            <a:r>
              <a:rPr sz="819" b="1" i="0">
                <a:solidFill>
                  <a:srgbClr val="000000"/>
                </a:solidFill>
                <a:latin typeface="Aptos"/>
              </a:rPr>
              <a:t>(Higher means more likely unseen)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6007608" y="4114800"/>
            <a:ext cx="82545" cy="91440"/>
          </a:xfrm>
          <a:prstGeom prst="rect">
            <a:avLst/>
          </a:prstGeom>
          <a:solidFill>
            <a:srgbClr val="2D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087410" y="4114800"/>
            <a:ext cx="82545" cy="91440"/>
          </a:xfrm>
          <a:prstGeom prst="rect">
            <a:avLst/>
          </a:prstGeom>
          <a:solidFill>
            <a:srgbClr val="356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167212" y="4114800"/>
            <a:ext cx="82545" cy="91440"/>
          </a:xfrm>
          <a:prstGeom prst="rect">
            <a:avLst/>
          </a:prstGeom>
          <a:solidFill>
            <a:srgbClr val="3D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6247014" y="4114800"/>
            <a:ext cx="82545" cy="91440"/>
          </a:xfrm>
          <a:prstGeom prst="rect">
            <a:avLst/>
          </a:prstGeom>
          <a:solidFill>
            <a:srgbClr val="456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326816" y="4114800"/>
            <a:ext cx="82545" cy="91440"/>
          </a:xfrm>
          <a:prstGeom prst="rect">
            <a:avLst/>
          </a:prstGeom>
          <a:solidFill>
            <a:srgbClr val="4D5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406618" y="4114800"/>
            <a:ext cx="82545" cy="91440"/>
          </a:xfrm>
          <a:prstGeom prst="rect">
            <a:avLst/>
          </a:prstGeom>
          <a:solidFill>
            <a:srgbClr val="55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6486421" y="4114800"/>
            <a:ext cx="82545" cy="91440"/>
          </a:xfrm>
          <a:prstGeom prst="rect">
            <a:avLst/>
          </a:prstGeom>
          <a:solidFill>
            <a:srgbClr val="5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6566223" y="4114800"/>
            <a:ext cx="82545" cy="91440"/>
          </a:xfrm>
          <a:prstGeom prst="rect">
            <a:avLst/>
          </a:prstGeom>
          <a:solidFill>
            <a:srgbClr val="65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6646025" y="4114800"/>
            <a:ext cx="82545" cy="91440"/>
          </a:xfrm>
          <a:prstGeom prst="rect">
            <a:avLst/>
          </a:prstGeom>
          <a:solidFill>
            <a:srgbClr val="6D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725827" y="4114800"/>
            <a:ext cx="82545" cy="91440"/>
          </a:xfrm>
          <a:prstGeom prst="rect">
            <a:avLst/>
          </a:prstGeom>
          <a:solidFill>
            <a:srgbClr val="755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6805629" y="4114800"/>
            <a:ext cx="82545" cy="91440"/>
          </a:xfrm>
          <a:prstGeom prst="rect">
            <a:avLst/>
          </a:prstGeom>
          <a:solidFill>
            <a:srgbClr val="7D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6885432" y="4114800"/>
            <a:ext cx="82545" cy="91440"/>
          </a:xfrm>
          <a:prstGeom prst="rect">
            <a:avLst/>
          </a:prstGeom>
          <a:solidFill>
            <a:srgbClr val="85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965234" y="4114800"/>
            <a:ext cx="82545" cy="91440"/>
          </a:xfrm>
          <a:prstGeom prst="rect">
            <a:avLst/>
          </a:prstGeom>
          <a:solidFill>
            <a:srgbClr val="8D4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045036" y="4114800"/>
            <a:ext cx="82545" cy="91440"/>
          </a:xfrm>
          <a:prstGeom prst="rect">
            <a:avLst/>
          </a:prstGeom>
          <a:solidFill>
            <a:srgbClr val="95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124838" y="4114800"/>
            <a:ext cx="82545" cy="91440"/>
          </a:xfrm>
          <a:prstGeom prst="rect">
            <a:avLst/>
          </a:prstGeom>
          <a:solidFill>
            <a:srgbClr val="9D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204640" y="4114800"/>
            <a:ext cx="82545" cy="91440"/>
          </a:xfrm>
          <a:prstGeom prst="rect">
            <a:avLst/>
          </a:prstGeom>
          <a:solidFill>
            <a:srgbClr val="A54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284442" y="4114800"/>
            <a:ext cx="82545" cy="91440"/>
          </a:xfrm>
          <a:prstGeom prst="rect">
            <a:avLst/>
          </a:prstGeom>
          <a:solidFill>
            <a:srgbClr val="AD4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364245" y="4114800"/>
            <a:ext cx="82545" cy="91440"/>
          </a:xfrm>
          <a:prstGeom prst="rect">
            <a:avLst/>
          </a:prstGeom>
          <a:solidFill>
            <a:srgbClr val="B5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444047" y="4114800"/>
            <a:ext cx="82545" cy="91440"/>
          </a:xfrm>
          <a:prstGeom prst="rect">
            <a:avLst/>
          </a:prstGeom>
          <a:solidFill>
            <a:srgbClr val="BD4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523849" y="4114800"/>
            <a:ext cx="82545" cy="91440"/>
          </a:xfrm>
          <a:prstGeom prst="rect">
            <a:avLst/>
          </a:prstGeom>
          <a:solidFill>
            <a:srgbClr val="C54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603651" y="4114800"/>
            <a:ext cx="82545" cy="91440"/>
          </a:xfrm>
          <a:prstGeom prst="rect">
            <a:avLst/>
          </a:prstGeom>
          <a:solidFill>
            <a:srgbClr val="CD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683453" y="4114800"/>
            <a:ext cx="82545" cy="91440"/>
          </a:xfrm>
          <a:prstGeom prst="rect">
            <a:avLst/>
          </a:prstGeom>
          <a:solidFill>
            <a:srgbClr val="D63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201826" y="4144060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6465173" y="4144060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6956755" y="4144060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7430780" y="4144060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7623901" y="4144060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5989320" y="4261104"/>
            <a:ext cx="347472" cy="1005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ptos"/>
              </a:rPr>
              <a:t>Low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7543800" y="4261104"/>
            <a:ext cx="274320" cy="1005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ptos"/>
              </a:rPr>
              <a:t>High</a:t>
            </a:r>
          </a:p>
        </p:txBody>
      </p:sp>
      <p:sp>
        <p:nvSpPr>
          <p:cNvPr id="309" name="Down Arrow 308"/>
          <p:cNvSpPr/>
          <p:nvPr/>
        </p:nvSpPr>
        <p:spPr>
          <a:xfrm>
            <a:off x="6812280" y="4443984"/>
            <a:ext cx="128016" cy="237744"/>
          </a:xfrm>
          <a:prstGeom prst="down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ounded Rectangle 309"/>
          <p:cNvSpPr/>
          <p:nvPr/>
        </p:nvSpPr>
        <p:spPr>
          <a:xfrm>
            <a:off x="5879592" y="4690872"/>
            <a:ext cx="2029968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8C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6272784" y="4809744"/>
            <a:ext cx="123444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ptos"/>
              </a:rPr>
              <a:t>Confidence Score $_x0007_lpha_i$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ptos"/>
              </a:rPr>
              <a:t>(Lower means more likely unseen)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007608" y="5276088"/>
            <a:ext cx="82545" cy="91440"/>
          </a:xfrm>
          <a:prstGeom prst="rect">
            <a:avLst/>
          </a:prstGeom>
          <a:solidFill>
            <a:srgbClr val="5BA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087410" y="5276088"/>
            <a:ext cx="82545" cy="91440"/>
          </a:xfrm>
          <a:prstGeom prst="rect">
            <a:avLst/>
          </a:prstGeom>
          <a:solidFill>
            <a:srgbClr val="60A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167212" y="5276088"/>
            <a:ext cx="82545" cy="91440"/>
          </a:xfrm>
          <a:prstGeom prst="rect">
            <a:avLst/>
          </a:prstGeom>
          <a:solidFill>
            <a:srgbClr val="66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247014" y="5276088"/>
            <a:ext cx="82545" cy="91440"/>
          </a:xfrm>
          <a:prstGeom prst="rect">
            <a:avLst/>
          </a:prstGeom>
          <a:solidFill>
            <a:srgbClr val="6C9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326816" y="5276088"/>
            <a:ext cx="82545" cy="91440"/>
          </a:xfrm>
          <a:prstGeom prst="rect">
            <a:avLst/>
          </a:prstGeom>
          <a:solidFill>
            <a:srgbClr val="729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6406618" y="5276088"/>
            <a:ext cx="82545" cy="91440"/>
          </a:xfrm>
          <a:prstGeom prst="rect">
            <a:avLst/>
          </a:prstGeom>
          <a:solidFill>
            <a:srgbClr val="788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6486421" y="5276088"/>
            <a:ext cx="82545" cy="91440"/>
          </a:xfrm>
          <a:prstGeom prst="rect">
            <a:avLst/>
          </a:prstGeom>
          <a:solidFill>
            <a:srgbClr val="7E8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6566223" y="5276088"/>
            <a:ext cx="82545" cy="91440"/>
          </a:xfrm>
          <a:prstGeom prst="rect">
            <a:avLst/>
          </a:prstGeom>
          <a:solidFill>
            <a:srgbClr val="848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646025" y="5276088"/>
            <a:ext cx="82545" cy="91440"/>
          </a:xfrm>
          <a:prstGeom prst="rect">
            <a:avLst/>
          </a:prstGeom>
          <a:solidFill>
            <a:srgbClr val="89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6725827" y="5276088"/>
            <a:ext cx="82545" cy="91440"/>
          </a:xfrm>
          <a:prstGeom prst="rect">
            <a:avLst/>
          </a:prstGeom>
          <a:solidFill>
            <a:srgbClr val="8F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6805629" y="5276088"/>
            <a:ext cx="82545" cy="91440"/>
          </a:xfrm>
          <a:prstGeom prst="rect">
            <a:avLst/>
          </a:prstGeom>
          <a:solidFill>
            <a:srgbClr val="95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6885432" y="5276088"/>
            <a:ext cx="82545" cy="91440"/>
          </a:xfrm>
          <a:prstGeom prst="rect">
            <a:avLst/>
          </a:prstGeom>
          <a:solidFill>
            <a:srgbClr val="9B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6965234" y="5276088"/>
            <a:ext cx="82545" cy="91440"/>
          </a:xfrm>
          <a:prstGeom prst="rect">
            <a:avLst/>
          </a:prstGeom>
          <a:solidFill>
            <a:srgbClr val="A1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7045036" y="5276088"/>
            <a:ext cx="82545" cy="91440"/>
          </a:xfrm>
          <a:prstGeom prst="rect">
            <a:avLst/>
          </a:prstGeom>
          <a:solidFill>
            <a:srgbClr val="A76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124838" y="5276088"/>
            <a:ext cx="82545" cy="91440"/>
          </a:xfrm>
          <a:prstGeom prst="rect">
            <a:avLst/>
          </a:prstGeom>
          <a:solidFill>
            <a:srgbClr val="AD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204640" y="5276088"/>
            <a:ext cx="82545" cy="91440"/>
          </a:xfrm>
          <a:prstGeom prst="rect">
            <a:avLst/>
          </a:prstGeom>
          <a:solidFill>
            <a:srgbClr val="B2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284442" y="5276088"/>
            <a:ext cx="82545" cy="91440"/>
          </a:xfrm>
          <a:prstGeom prst="rect">
            <a:avLst/>
          </a:prstGeom>
          <a:solidFill>
            <a:srgbClr val="B85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364245" y="5276088"/>
            <a:ext cx="82545" cy="91440"/>
          </a:xfrm>
          <a:prstGeom prst="rect">
            <a:avLst/>
          </a:prstGeom>
          <a:solidFill>
            <a:srgbClr val="BE5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7444047" y="5276088"/>
            <a:ext cx="82545" cy="91440"/>
          </a:xfrm>
          <a:prstGeom prst="rect">
            <a:avLst/>
          </a:prstGeom>
          <a:solidFill>
            <a:srgbClr val="C44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7523849" y="5276088"/>
            <a:ext cx="82545" cy="91440"/>
          </a:xfrm>
          <a:prstGeom prst="rect">
            <a:avLst/>
          </a:prstGeom>
          <a:solidFill>
            <a:srgbClr val="CA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7603651" y="5276088"/>
            <a:ext cx="82545" cy="91440"/>
          </a:xfrm>
          <a:prstGeom prst="rect">
            <a:avLst/>
          </a:prstGeom>
          <a:solidFill>
            <a:srgbClr val="D04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7683453" y="5276088"/>
            <a:ext cx="82545" cy="91440"/>
          </a:xfrm>
          <a:prstGeom prst="rect">
            <a:avLst/>
          </a:prstGeom>
          <a:solidFill>
            <a:srgbClr val="D63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6201826" y="5305348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6465173" y="5305348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6956755" y="5305348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7430780" y="5305348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623901" y="5305348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989320" y="5431536"/>
            <a:ext cx="347472" cy="1005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ptos"/>
              </a:rPr>
              <a:t>High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7525512" y="5431536"/>
            <a:ext cx="292608" cy="1005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ptos"/>
              </a:rPr>
              <a:t>Low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8119872" y="3108960"/>
            <a:ext cx="0" cy="187452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ight Arrow 341"/>
          <p:cNvSpPr/>
          <p:nvPr/>
        </p:nvSpPr>
        <p:spPr>
          <a:xfrm>
            <a:off x="8046720" y="3063240"/>
            <a:ext cx="201168" cy="118872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ounded Rectangle 342"/>
          <p:cNvSpPr/>
          <p:nvPr/>
        </p:nvSpPr>
        <p:spPr>
          <a:xfrm>
            <a:off x="8302752" y="1664208"/>
            <a:ext cx="4462272" cy="4096512"/>
          </a:xfrm>
          <a:prstGeom prst="roundRect">
            <a:avLst/>
          </a:prstGeom>
          <a:solidFill>
            <a:srgbClr val="FAF5FF"/>
          </a:solidFill>
          <a:ln w="10160">
            <a:solidFill>
              <a:srgbClr val="A9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9098280" y="1746504"/>
            <a:ext cx="285292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3B126E"/>
                </a:solidFill>
                <a:latin typeface="Aptos"/>
              </a:rPr>
              <a:t>Phase 2: Backdoor Client Detection and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B126E"/>
                </a:solidFill>
                <a:latin typeface="Aptos"/>
              </a:rPr>
              <a:t>Gradient Calibration</a:t>
            </a:r>
          </a:p>
        </p:txBody>
      </p:sp>
      <p:cxnSp>
        <p:nvCxnSpPr>
          <p:cNvPr id="345" name="Connector 344"/>
          <p:cNvCxnSpPr/>
          <p:nvPr/>
        </p:nvCxnSpPr>
        <p:spPr>
          <a:xfrm>
            <a:off x="8311896" y="2139696"/>
            <a:ext cx="4453128" cy="0"/>
          </a:xfrm>
          <a:prstGeom prst="line">
            <a:avLst/>
          </a:prstGeom>
          <a:ln w="8890">
            <a:solidFill>
              <a:srgbClr val="D9C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Rounded Rectangle 345"/>
          <p:cNvSpPr/>
          <p:nvPr/>
        </p:nvSpPr>
        <p:spPr>
          <a:xfrm>
            <a:off x="8421624" y="2286000"/>
            <a:ext cx="2560320" cy="15910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9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8961120" y="2395728"/>
            <a:ext cx="1463040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071A58"/>
                </a:solidFill>
                <a:latin typeface="Aptos"/>
              </a:rPr>
              <a:t>Backdoor Client Detection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540496" y="2798064"/>
            <a:ext cx="822960" cy="804672"/>
          </a:xfrm>
          <a:prstGeom prst="rect">
            <a:avLst/>
          </a:prstGeom>
          <a:solidFill>
            <a:srgbClr val="F7F8FA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8672169" y="3280501"/>
            <a:ext cx="32918" cy="32918"/>
          </a:xfrm>
          <a:prstGeom prst="ellipse">
            <a:avLst/>
          </a:prstGeom>
          <a:solidFill>
            <a:srgbClr val="D63C2F"/>
          </a:solidFill>
          <a:ln w="2540">
            <a:solidFill>
              <a:srgbClr val="D63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8738006" y="3248314"/>
            <a:ext cx="32918" cy="32918"/>
          </a:xfrm>
          <a:prstGeom prst="ellipse">
            <a:avLst/>
          </a:prstGeom>
          <a:solidFill>
            <a:srgbClr val="D63C2F"/>
          </a:solidFill>
          <a:ln w="2540">
            <a:solidFill>
              <a:srgbClr val="D63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8787384" y="3312688"/>
            <a:ext cx="32918" cy="32918"/>
          </a:xfrm>
          <a:prstGeom prst="ellipse">
            <a:avLst/>
          </a:prstGeom>
          <a:solidFill>
            <a:srgbClr val="D63C2F"/>
          </a:solidFill>
          <a:ln w="2540">
            <a:solidFill>
              <a:srgbClr val="D63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8713317" y="3360968"/>
            <a:ext cx="32918" cy="32918"/>
          </a:xfrm>
          <a:prstGeom prst="ellipse">
            <a:avLst/>
          </a:prstGeom>
          <a:solidFill>
            <a:srgbClr val="D63C2F"/>
          </a:solidFill>
          <a:ln w="2540">
            <a:solidFill>
              <a:srgbClr val="D63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8820302" y="3224174"/>
            <a:ext cx="32918" cy="32918"/>
          </a:xfrm>
          <a:prstGeom prst="ellipse">
            <a:avLst/>
          </a:prstGeom>
          <a:solidFill>
            <a:srgbClr val="D63C2F"/>
          </a:solidFill>
          <a:ln w="2540">
            <a:solidFill>
              <a:srgbClr val="D63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8647480" y="3344875"/>
            <a:ext cx="32918" cy="32918"/>
          </a:xfrm>
          <a:prstGeom prst="ellipse">
            <a:avLst/>
          </a:prstGeom>
          <a:solidFill>
            <a:srgbClr val="D63C2F"/>
          </a:solidFill>
          <a:ln w="2540">
            <a:solidFill>
              <a:srgbClr val="D63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9050731" y="3006912"/>
            <a:ext cx="32918" cy="32918"/>
          </a:xfrm>
          <a:prstGeom prst="ellipse">
            <a:avLst/>
          </a:prstGeom>
          <a:solidFill>
            <a:srgbClr val="2B69B1"/>
          </a:solidFill>
          <a:ln w="2540">
            <a:solidFill>
              <a:srgbClr val="2B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116567" y="2958632"/>
            <a:ext cx="32918" cy="32918"/>
          </a:xfrm>
          <a:prstGeom prst="ellipse">
            <a:avLst/>
          </a:prstGeom>
          <a:solidFill>
            <a:srgbClr val="2B69B1"/>
          </a:solidFill>
          <a:ln w="2540">
            <a:solidFill>
              <a:srgbClr val="2B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9165945" y="3047146"/>
            <a:ext cx="32918" cy="32918"/>
          </a:xfrm>
          <a:prstGeom prst="ellipse">
            <a:avLst/>
          </a:prstGeom>
          <a:solidFill>
            <a:srgbClr val="2B69B1"/>
          </a:solidFill>
          <a:ln w="2540">
            <a:solidFill>
              <a:srgbClr val="2B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9075419" y="3103473"/>
            <a:ext cx="32918" cy="32918"/>
          </a:xfrm>
          <a:prstGeom prst="ellipse">
            <a:avLst/>
          </a:prstGeom>
          <a:solidFill>
            <a:srgbClr val="2B69B1"/>
          </a:solidFill>
          <a:ln w="2540">
            <a:solidFill>
              <a:srgbClr val="2B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07093" y="2990819"/>
            <a:ext cx="32918" cy="32918"/>
          </a:xfrm>
          <a:prstGeom prst="ellipse">
            <a:avLst/>
          </a:prstGeom>
          <a:solidFill>
            <a:srgbClr val="2B69B1"/>
          </a:solidFill>
          <a:ln w="2540">
            <a:solidFill>
              <a:srgbClr val="2B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124797" y="3143707"/>
            <a:ext cx="32918" cy="32918"/>
          </a:xfrm>
          <a:prstGeom prst="ellipse">
            <a:avLst/>
          </a:prstGeom>
          <a:solidFill>
            <a:srgbClr val="2B69B1"/>
          </a:solidFill>
          <a:ln w="2540">
            <a:solidFill>
              <a:srgbClr val="2B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976664" y="3344875"/>
            <a:ext cx="32918" cy="32918"/>
          </a:xfrm>
          <a:prstGeom prst="ellipse">
            <a:avLst/>
          </a:prstGeom>
          <a:solidFill>
            <a:srgbClr val="5A9A44"/>
          </a:solidFill>
          <a:ln w="2540">
            <a:solidFill>
              <a:srgbClr val="5A9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050731" y="3377062"/>
            <a:ext cx="32918" cy="32918"/>
          </a:xfrm>
          <a:prstGeom prst="ellipse">
            <a:avLst/>
          </a:prstGeom>
          <a:solidFill>
            <a:srgbClr val="5A9A44"/>
          </a:solidFill>
          <a:ln w="2540">
            <a:solidFill>
              <a:srgbClr val="5A9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9083649" y="3280501"/>
            <a:ext cx="32918" cy="32918"/>
          </a:xfrm>
          <a:prstGeom prst="ellipse">
            <a:avLst/>
          </a:prstGeom>
          <a:solidFill>
            <a:srgbClr val="5A9A44"/>
          </a:solidFill>
          <a:ln w="2540">
            <a:solidFill>
              <a:srgbClr val="5A9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9001353" y="3248314"/>
            <a:ext cx="32918" cy="32918"/>
          </a:xfrm>
          <a:prstGeom prst="ellipse">
            <a:avLst/>
          </a:prstGeom>
          <a:solidFill>
            <a:srgbClr val="5A9A44"/>
          </a:solidFill>
          <a:ln w="2540">
            <a:solidFill>
              <a:srgbClr val="5A9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9124797" y="3344875"/>
            <a:ext cx="32918" cy="32918"/>
          </a:xfrm>
          <a:prstGeom prst="ellipse">
            <a:avLst/>
          </a:prstGeom>
          <a:solidFill>
            <a:srgbClr val="5A9A44"/>
          </a:solidFill>
          <a:ln w="2540">
            <a:solidFill>
              <a:srgbClr val="5A9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6" name="Connector 365"/>
          <p:cNvCxnSpPr/>
          <p:nvPr/>
        </p:nvCxnSpPr>
        <p:spPr>
          <a:xfrm>
            <a:off x="8935516" y="3176259"/>
            <a:ext cx="230429" cy="152888"/>
          </a:xfrm>
          <a:prstGeom prst="line">
            <a:avLst/>
          </a:prstGeom>
          <a:ln w="508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H="1">
            <a:off x="8803843" y="3176259"/>
            <a:ext cx="131673" cy="185075"/>
          </a:xfrm>
          <a:prstGeom prst="line">
            <a:avLst/>
          </a:prstGeom>
          <a:ln w="508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8935516" y="3055559"/>
            <a:ext cx="181052" cy="120700"/>
          </a:xfrm>
          <a:prstGeom prst="line">
            <a:avLst/>
          </a:prstGeom>
          <a:ln w="508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TextBox 368"/>
          <p:cNvSpPr txBox="1"/>
          <p:nvPr/>
        </p:nvSpPr>
        <p:spPr>
          <a:xfrm>
            <a:off x="9473184" y="2990088"/>
            <a:ext cx="1170432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50" b="0" i="0">
                <a:solidFill>
                  <a:srgbClr val="000000"/>
                </a:solidFill>
                <a:latin typeface="Aptos"/>
              </a:rPr>
              <a:t>Unsupervised clustering on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ptos"/>
              </a:rPr>
              <a:t>gradient representations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ptos"/>
              </a:rPr>
              <a:t>(e.g., K-means)</a:t>
            </a:r>
          </a:p>
        </p:txBody>
      </p:sp>
      <p:sp>
        <p:nvSpPr>
          <p:cNvPr id="370" name="Right Arrow 369"/>
          <p:cNvSpPr/>
          <p:nvPr/>
        </p:nvSpPr>
        <p:spPr>
          <a:xfrm>
            <a:off x="10991088" y="3063240"/>
            <a:ext cx="256032" cy="137160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ounded Rectangle 370"/>
          <p:cNvSpPr/>
          <p:nvPr/>
        </p:nvSpPr>
        <p:spPr>
          <a:xfrm>
            <a:off x="11283696" y="2560320"/>
            <a:ext cx="1380744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9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11594592" y="2715768"/>
            <a:ext cx="749808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00000"/>
                </a:solidFill>
                <a:latin typeface="Aptos"/>
              </a:rPr>
              <a:t>Backdoor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Aptos"/>
              </a:rPr>
              <a:t>Probability $p_i$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Aptos"/>
              </a:rPr>
              <a:t>(Higher means more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Aptos"/>
              </a:rPr>
              <a:t>likely backdoor)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11430000" y="3456432"/>
            <a:ext cx="45138" cy="91440"/>
          </a:xfrm>
          <a:prstGeom prst="rect">
            <a:avLst/>
          </a:prstGeom>
          <a:solidFill>
            <a:srgbClr val="2D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1472394" y="3456432"/>
            <a:ext cx="45138" cy="91440"/>
          </a:xfrm>
          <a:prstGeom prst="rect">
            <a:avLst/>
          </a:prstGeom>
          <a:solidFill>
            <a:srgbClr val="356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1514789" y="3456432"/>
            <a:ext cx="45138" cy="91440"/>
          </a:xfrm>
          <a:prstGeom prst="rect">
            <a:avLst/>
          </a:prstGeom>
          <a:solidFill>
            <a:srgbClr val="3D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1557184" y="3456432"/>
            <a:ext cx="45138" cy="91440"/>
          </a:xfrm>
          <a:prstGeom prst="rect">
            <a:avLst/>
          </a:prstGeom>
          <a:solidFill>
            <a:srgbClr val="456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1599579" y="3456432"/>
            <a:ext cx="45138" cy="91440"/>
          </a:xfrm>
          <a:prstGeom prst="rect">
            <a:avLst/>
          </a:prstGeom>
          <a:solidFill>
            <a:srgbClr val="4D5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1641974" y="3456432"/>
            <a:ext cx="45138" cy="91440"/>
          </a:xfrm>
          <a:prstGeom prst="rect">
            <a:avLst/>
          </a:prstGeom>
          <a:solidFill>
            <a:srgbClr val="55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1684369" y="3456432"/>
            <a:ext cx="45138" cy="91440"/>
          </a:xfrm>
          <a:prstGeom prst="rect">
            <a:avLst/>
          </a:prstGeom>
          <a:solidFill>
            <a:srgbClr val="5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1726764" y="3456432"/>
            <a:ext cx="45138" cy="91440"/>
          </a:xfrm>
          <a:prstGeom prst="rect">
            <a:avLst/>
          </a:prstGeom>
          <a:solidFill>
            <a:srgbClr val="65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1769159" y="3456432"/>
            <a:ext cx="45138" cy="91440"/>
          </a:xfrm>
          <a:prstGeom prst="rect">
            <a:avLst/>
          </a:prstGeom>
          <a:solidFill>
            <a:srgbClr val="6D5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1811554" y="3456432"/>
            <a:ext cx="45138" cy="91440"/>
          </a:xfrm>
          <a:prstGeom prst="rect">
            <a:avLst/>
          </a:prstGeom>
          <a:solidFill>
            <a:srgbClr val="755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1853949" y="3456432"/>
            <a:ext cx="45138" cy="91440"/>
          </a:xfrm>
          <a:prstGeom prst="rect">
            <a:avLst/>
          </a:prstGeom>
          <a:solidFill>
            <a:srgbClr val="7D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1896344" y="3456432"/>
            <a:ext cx="45138" cy="91440"/>
          </a:xfrm>
          <a:prstGeom prst="rect">
            <a:avLst/>
          </a:prstGeom>
          <a:solidFill>
            <a:srgbClr val="855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1938738" y="3456432"/>
            <a:ext cx="45138" cy="91440"/>
          </a:xfrm>
          <a:prstGeom prst="rect">
            <a:avLst/>
          </a:prstGeom>
          <a:solidFill>
            <a:srgbClr val="8D4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1981133" y="3456432"/>
            <a:ext cx="45138" cy="91440"/>
          </a:xfrm>
          <a:prstGeom prst="rect">
            <a:avLst/>
          </a:prstGeom>
          <a:solidFill>
            <a:srgbClr val="95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2023528" y="3456432"/>
            <a:ext cx="45138" cy="91440"/>
          </a:xfrm>
          <a:prstGeom prst="rect">
            <a:avLst/>
          </a:prstGeom>
          <a:solidFill>
            <a:srgbClr val="9D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2065923" y="3456432"/>
            <a:ext cx="45138" cy="91440"/>
          </a:xfrm>
          <a:prstGeom prst="rect">
            <a:avLst/>
          </a:prstGeom>
          <a:solidFill>
            <a:srgbClr val="A54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2108318" y="3456432"/>
            <a:ext cx="45138" cy="91440"/>
          </a:xfrm>
          <a:prstGeom prst="rect">
            <a:avLst/>
          </a:prstGeom>
          <a:solidFill>
            <a:srgbClr val="AD4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2150713" y="3456432"/>
            <a:ext cx="45138" cy="91440"/>
          </a:xfrm>
          <a:prstGeom prst="rect">
            <a:avLst/>
          </a:prstGeom>
          <a:solidFill>
            <a:srgbClr val="B5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2193108" y="3456432"/>
            <a:ext cx="45138" cy="91440"/>
          </a:xfrm>
          <a:prstGeom prst="rect">
            <a:avLst/>
          </a:prstGeom>
          <a:solidFill>
            <a:srgbClr val="BD4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2235503" y="3456432"/>
            <a:ext cx="45138" cy="91440"/>
          </a:xfrm>
          <a:prstGeom prst="rect">
            <a:avLst/>
          </a:prstGeom>
          <a:solidFill>
            <a:srgbClr val="C54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2277898" y="3456432"/>
            <a:ext cx="45138" cy="91440"/>
          </a:xfrm>
          <a:prstGeom prst="rect">
            <a:avLst/>
          </a:prstGeom>
          <a:solidFill>
            <a:srgbClr val="CD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2320293" y="3456432"/>
            <a:ext cx="45138" cy="91440"/>
          </a:xfrm>
          <a:prstGeom prst="rect">
            <a:avLst/>
          </a:prstGeom>
          <a:solidFill>
            <a:srgbClr val="D63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1525463" y="3485692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1665366" y="3485692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1926519" y="3485692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2178344" y="3485692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2280940" y="3485692"/>
            <a:ext cx="32918" cy="32918"/>
          </a:xfrm>
          <a:prstGeom prst="ellipse">
            <a:avLst/>
          </a:prstGeom>
          <a:solidFill>
            <a:srgbClr val="111111"/>
          </a:solidFill>
          <a:ln w="25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1402568" y="3611880"/>
            <a:ext cx="301752" cy="914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660" b="0" i="0">
                <a:solidFill>
                  <a:srgbClr val="000000"/>
                </a:solidFill>
                <a:latin typeface="Aptos"/>
              </a:rPr>
              <a:t>Low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2316968" y="3611880"/>
            <a:ext cx="310896" cy="914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660" b="0" i="0">
                <a:solidFill>
                  <a:srgbClr val="000000"/>
                </a:solidFill>
                <a:latin typeface="Aptos"/>
              </a:rPr>
              <a:t>High</a:t>
            </a:r>
          </a:p>
        </p:txBody>
      </p:sp>
      <p:sp>
        <p:nvSpPr>
          <p:cNvPr id="402" name="Down Arrow 401"/>
          <p:cNvSpPr/>
          <p:nvPr/>
        </p:nvSpPr>
        <p:spPr>
          <a:xfrm>
            <a:off x="9720072" y="3877056"/>
            <a:ext cx="146304" cy="256032"/>
          </a:xfrm>
          <a:prstGeom prst="down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ounded Rectangle 402"/>
          <p:cNvSpPr/>
          <p:nvPr/>
        </p:nvSpPr>
        <p:spPr>
          <a:xfrm>
            <a:off x="8421624" y="4114800"/>
            <a:ext cx="4279392" cy="14264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A9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9125712" y="4242816"/>
            <a:ext cx="1417320" cy="1280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80" b="1" i="0">
                <a:solidFill>
                  <a:srgbClr val="3B126E"/>
                </a:solidFill>
                <a:latin typeface="Aptos"/>
              </a:rPr>
              <a:t>Gradient Calibration</a:t>
            </a:r>
          </a:p>
        </p:txBody>
      </p:sp>
      <p:cxnSp>
        <p:nvCxnSpPr>
          <p:cNvPr id="405" name="Connector 404"/>
          <p:cNvCxnSpPr/>
          <p:nvPr/>
        </p:nvCxnSpPr>
        <p:spPr>
          <a:xfrm>
            <a:off x="8430768" y="4443984"/>
            <a:ext cx="4261104" cy="0"/>
          </a:xfrm>
          <a:prstGeom prst="line">
            <a:avLst/>
          </a:prstGeom>
          <a:ln w="7620">
            <a:solidFill>
              <a:srgbClr val="D9C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TextBox 405"/>
          <p:cNvSpPr txBox="1"/>
          <p:nvPr/>
        </p:nvSpPr>
        <p:spPr>
          <a:xfrm>
            <a:off x="8549640" y="4663440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40" b="1" i="0">
                <a:solidFill>
                  <a:srgbClr val="000000"/>
                </a:solidFill>
                <a:latin typeface="Aptos"/>
              </a:rPr>
              <a:t>Calibration Factor $_x0008_eta_i$ = $_x0007_lpha_i(p_i + \lambda)$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8558784" y="5010912"/>
            <a:ext cx="160020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30" b="1" i="0">
                <a:solidFill>
                  <a:srgbClr val="000000"/>
                </a:solidFill>
                <a:latin typeface="Cambria Math"/>
              </a:rPr>
              <a:t>Calibrated Gradient:</a:t>
            </a:r>
          </a:p>
          <a:p>
            <a:pPr algn="l">
              <a:spcAft>
                <a:spcPts val="0"/>
              </a:spcAft>
            </a:pPr>
            <a:r>
              <a:rPr sz="1030" b="1" i="0">
                <a:solidFill>
                  <a:srgbClr val="000000"/>
                </a:solidFill>
                <a:latin typeface="Cambria Math"/>
              </a:rPr>
              <a:t>$\tilde{T}_i = _x0008_eta_i \cdot T_i$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10817352" y="4297680"/>
            <a:ext cx="1810512" cy="1078992"/>
          </a:xfrm>
          <a:prstGeom prst="roundRect">
            <a:avLst/>
          </a:prstGeom>
          <a:solidFill>
            <a:srgbClr val="F8F7FC"/>
          </a:solidFill>
          <a:ln w="7620">
            <a:solidFill>
              <a:srgbClr val="C7B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11247120" y="4379976"/>
            <a:ext cx="960120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 i="0">
                <a:solidFill>
                  <a:srgbClr val="000000"/>
                </a:solidFill>
                <a:latin typeface="Aptos"/>
              </a:rPr>
              <a:t>Effect of Calibration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10917936" y="5294375"/>
            <a:ext cx="1572768" cy="0"/>
          </a:xfrm>
          <a:prstGeom prst="line">
            <a:avLst/>
          </a:prstGeom>
          <a:ln w="698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10917936" y="4626864"/>
            <a:ext cx="0" cy="667511"/>
          </a:xfrm>
          <a:prstGeom prst="line">
            <a:avLst/>
          </a:prstGeom>
          <a:ln w="571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10917936" y="5294234"/>
            <a:ext cx="42507" cy="104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10960443" y="5293887"/>
            <a:ext cx="42507" cy="347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11002950" y="5292855"/>
            <a:ext cx="42507" cy="1032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11045457" y="5290100"/>
            <a:ext cx="42507" cy="2755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11087964" y="5283514"/>
            <a:ext cx="42508" cy="6586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11130472" y="5269444"/>
            <a:ext cx="42507" cy="1407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11172979" y="5242670"/>
            <a:ext cx="42507" cy="26774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11215486" y="5197488"/>
            <a:ext cx="42507" cy="45182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11257993" y="5130338"/>
            <a:ext cx="42508" cy="6715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11300501" y="5043444"/>
            <a:ext cx="42507" cy="86894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11343008" y="4947553"/>
            <a:ext cx="42507" cy="95891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11385515" y="4861264"/>
            <a:ext cx="42507" cy="86289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11428022" y="4805687"/>
            <a:ext cx="42508" cy="55577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11470530" y="4796176"/>
            <a:ext cx="42507" cy="9511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11513037" y="4796176"/>
            <a:ext cx="42507" cy="39303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11555544" y="4835479"/>
            <a:ext cx="42507" cy="76983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11598051" y="4912462"/>
            <a:ext cx="42508" cy="94733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11640559" y="5007195"/>
            <a:ext cx="42507" cy="92068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11683066" y="5099263"/>
            <a:ext cx="42507" cy="75341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1725573" y="5174604"/>
            <a:ext cx="42507" cy="53342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11768080" y="5227946"/>
            <a:ext cx="42508" cy="3314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1810588" y="5261086"/>
            <a:ext cx="42507" cy="18216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11853095" y="5279302"/>
            <a:ext cx="42507" cy="8907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1895602" y="5288209"/>
            <a:ext cx="42507" cy="3887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1938109" y="5292096"/>
            <a:ext cx="42508" cy="1518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1980617" y="5293614"/>
            <a:ext cx="42507" cy="532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12023124" y="5294146"/>
            <a:ext cx="42507" cy="167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2065631" y="5294313"/>
            <a:ext cx="42507" cy="47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2108138" y="5294360"/>
            <a:ext cx="42508" cy="12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2150646" y="5294372"/>
            <a:ext cx="42507" cy="3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12193153" y="5294375"/>
            <a:ext cx="42507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2235660" y="5294375"/>
            <a:ext cx="42507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2278167" y="5294375"/>
            <a:ext cx="42508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12320675" y="5294375"/>
            <a:ext cx="42507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12363182" y="5294375"/>
            <a:ext cx="42507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12405689" y="5294375"/>
            <a:ext cx="42507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2448196" y="5294375"/>
            <a:ext cx="42508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0917936" y="5294375"/>
            <a:ext cx="42507" cy="0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0960443" y="5294375"/>
            <a:ext cx="42507" cy="0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11002950" y="5294372"/>
            <a:ext cx="42507" cy="3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11045457" y="5294365"/>
            <a:ext cx="42507" cy="7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11087964" y="5294342"/>
            <a:ext cx="42508" cy="23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11130472" y="5294276"/>
            <a:ext cx="42507" cy="66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11172979" y="5294099"/>
            <a:ext cx="42507" cy="177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11215486" y="5293657"/>
            <a:ext cx="42507" cy="442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11257993" y="5292626"/>
            <a:ext cx="42508" cy="1031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11300501" y="5290385"/>
            <a:ext cx="42507" cy="2241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11343008" y="5285846"/>
            <a:ext cx="42507" cy="4539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11385515" y="5277290"/>
            <a:ext cx="42507" cy="8556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11428022" y="5262301"/>
            <a:ext cx="42508" cy="14989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11470530" y="5237949"/>
            <a:ext cx="42507" cy="24352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11513037" y="5201348"/>
            <a:ext cx="42507" cy="36601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11555544" y="5150647"/>
            <a:ext cx="42507" cy="50701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11598051" y="5086274"/>
            <a:ext cx="42508" cy="64373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1640559" y="5012012"/>
            <a:ext cx="42507" cy="74262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11683066" y="4935335"/>
            <a:ext cx="42507" cy="76677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11725573" y="4866537"/>
            <a:ext cx="42507" cy="68798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11768080" y="4816607"/>
            <a:ext cx="42508" cy="49930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11810588" y="4794391"/>
            <a:ext cx="42507" cy="22216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1853095" y="4794391"/>
            <a:ext cx="42507" cy="9645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1895602" y="4804036"/>
            <a:ext cx="42507" cy="39690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11938109" y="4843726"/>
            <a:ext cx="42508" cy="62516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11980617" y="4906242"/>
            <a:ext cx="42507" cy="74858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12023124" y="4981100"/>
            <a:ext cx="42507" cy="76317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2065631" y="5057417"/>
            <a:ext cx="42507" cy="68993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12108138" y="5126410"/>
            <a:ext cx="42508" cy="56390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12150646" y="5182800"/>
            <a:ext cx="42507" cy="42118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12193153" y="5224918"/>
            <a:ext cx="42507" cy="28938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12235660" y="5253856"/>
            <a:ext cx="42507" cy="18367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12278167" y="5272223"/>
            <a:ext cx="42508" cy="10803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12320675" y="5283026"/>
            <a:ext cx="42507" cy="5900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12363182" y="5288926"/>
            <a:ext cx="42507" cy="2998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12405689" y="5291924"/>
            <a:ext cx="42507" cy="1418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12448196" y="5293342"/>
            <a:ext cx="42508" cy="625"/>
          </a:xfrm>
          <a:prstGeom prst="line">
            <a:avLst/>
          </a:prstGeom>
          <a:ln w="76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10917936" y="5291983"/>
            <a:ext cx="42507" cy="1274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10960443" y="5289510"/>
            <a:ext cx="42507" cy="2473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11002950" y="5284970"/>
            <a:ext cx="42507" cy="4540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11045457" y="5277089"/>
            <a:ext cx="42507" cy="7881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11087964" y="5264171"/>
            <a:ext cx="42508" cy="12918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11130472" y="5244200"/>
            <a:ext cx="42507" cy="19971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11172979" y="5215134"/>
            <a:ext cx="42507" cy="29066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11215486" y="5175399"/>
            <a:ext cx="42507" cy="39735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11257993" y="5124544"/>
            <a:ext cx="42508" cy="50855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11300501" y="5063903"/>
            <a:ext cx="42507" cy="60641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11343008" y="4997026"/>
            <a:ext cx="42507" cy="66877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11385515" y="4929654"/>
            <a:ext cx="42507" cy="67372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11428022" y="4869070"/>
            <a:ext cx="42508" cy="60584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11470530" y="4822869"/>
            <a:ext cx="42507" cy="46201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11513037" y="4797418"/>
            <a:ext cx="42507" cy="25451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11555544" y="4796412"/>
            <a:ext cx="42507" cy="1006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11598051" y="4796412"/>
            <a:ext cx="42508" cy="23588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11640559" y="4820000"/>
            <a:ext cx="42507" cy="44748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11683066" y="4864748"/>
            <a:ext cx="42507" cy="59707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11725573" y="4924455"/>
            <a:ext cx="42507" cy="67110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11768080" y="4991565"/>
            <a:ext cx="42508" cy="67154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11810588" y="5058719"/>
            <a:ext cx="42507" cy="61302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11853095" y="5120021"/>
            <a:ext cx="42507" cy="51714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11895602" y="5171735"/>
            <a:ext cx="42507" cy="40628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11938109" y="5212363"/>
            <a:ext cx="42508" cy="29872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11980617" y="5242235"/>
            <a:ext cx="42507" cy="20626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12023124" y="5262861"/>
            <a:ext cx="42507" cy="13405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2065631" y="5276266"/>
            <a:ext cx="42507" cy="8217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12108138" y="5284483"/>
            <a:ext cx="42508" cy="4754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12150646" y="5289237"/>
            <a:ext cx="42507" cy="2601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12193153" y="5291838"/>
            <a:ext cx="42507" cy="1347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12235660" y="5293185"/>
            <a:ext cx="42507" cy="659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12278167" y="5293844"/>
            <a:ext cx="42508" cy="306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2320675" y="5294150"/>
            <a:ext cx="42507" cy="135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12363182" y="5294285"/>
            <a:ext cx="42507" cy="56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12405689" y="5294341"/>
            <a:ext cx="42507" cy="22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12448196" y="5294363"/>
            <a:ext cx="42508" cy="8"/>
          </a:xfrm>
          <a:prstGeom prst="line">
            <a:avLst/>
          </a:prstGeom>
          <a:ln w="7620">
            <a:solidFill>
              <a:srgbClr val="6E4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TextBox 522"/>
          <p:cNvSpPr txBox="1"/>
          <p:nvPr/>
        </p:nvSpPr>
        <p:spPr>
          <a:xfrm>
            <a:off x="11814413" y="4693615"/>
            <a:ext cx="550468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80" b="0" i="0">
                <a:solidFill>
                  <a:srgbClr val="333333"/>
                </a:solidFill>
                <a:latin typeface="Aptos"/>
              </a:rPr>
              <a:t>Original Gradient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1814413" y="4787066"/>
            <a:ext cx="550468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80" b="0" i="0">
                <a:solidFill>
                  <a:srgbClr val="333333"/>
                </a:solidFill>
                <a:latin typeface="Aptos"/>
              </a:rPr>
              <a:t>Calibrated Gradient</a:t>
            </a:r>
          </a:p>
        </p:txBody>
      </p:sp>
      <p:sp>
        <p:nvSpPr>
          <p:cNvPr id="525" name="Right Arrow 524"/>
          <p:cNvSpPr/>
          <p:nvPr/>
        </p:nvSpPr>
        <p:spPr>
          <a:xfrm>
            <a:off x="12874752" y="3200400"/>
            <a:ext cx="256032" cy="146304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ounded Rectangle 525"/>
          <p:cNvSpPr/>
          <p:nvPr/>
        </p:nvSpPr>
        <p:spPr>
          <a:xfrm>
            <a:off x="13075920" y="1645920"/>
            <a:ext cx="2011680" cy="4480560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4E6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13405104" y="1755648"/>
            <a:ext cx="137160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30" b="1" i="0">
                <a:solidFill>
                  <a:srgbClr val="071A58"/>
                </a:solidFill>
                <a:latin typeface="Aptos"/>
              </a:rPr>
              <a:t>Calibrated Training</a:t>
            </a:r>
          </a:p>
          <a:p>
            <a:pPr algn="ctr">
              <a:spcAft>
                <a:spcPts val="0"/>
              </a:spcAft>
            </a:pPr>
            <a:r>
              <a:rPr sz="1130" b="1" i="0">
                <a:solidFill>
                  <a:srgbClr val="071A58"/>
                </a:solidFill>
                <a:latin typeface="Aptos"/>
              </a:rPr>
              <a:t>and Global Update</a:t>
            </a:r>
          </a:p>
        </p:txBody>
      </p:sp>
      <p:cxnSp>
        <p:nvCxnSpPr>
          <p:cNvPr id="528" name="Connector 527"/>
          <p:cNvCxnSpPr/>
          <p:nvPr/>
        </p:nvCxnSpPr>
        <p:spPr>
          <a:xfrm>
            <a:off x="13085064" y="2139696"/>
            <a:ext cx="2002536" cy="0"/>
          </a:xfrm>
          <a:prstGeom prst="line">
            <a:avLst/>
          </a:prstGeom>
          <a:ln w="8890">
            <a:solidFill>
              <a:srgbClr val="BFD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13331952" y="2359152"/>
            <a:ext cx="1517904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Aptos"/>
              </a:rPr>
              <a:t>Server updates its model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with calibrated gradients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from all clients.</a:t>
            </a:r>
          </a:p>
        </p:txBody>
      </p:sp>
      <p:sp>
        <p:nvSpPr>
          <p:cNvPr id="530" name="Rounded Rectangle 529"/>
          <p:cNvSpPr/>
          <p:nvPr/>
        </p:nvSpPr>
        <p:spPr>
          <a:xfrm>
            <a:off x="13441680" y="3044952"/>
            <a:ext cx="1243584" cy="914400"/>
          </a:xfrm>
          <a:prstGeom prst="roundRect">
            <a:avLst/>
          </a:prstGeom>
          <a:solidFill>
            <a:srgbClr val="F8FBFF"/>
          </a:solidFill>
          <a:ln w="6350">
            <a:solidFill>
              <a:srgbClr val="9AA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13665525" y="3209544"/>
            <a:ext cx="373075" cy="64008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14038600" y="3209544"/>
            <a:ext cx="373075" cy="91440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13665525" y="3273552"/>
            <a:ext cx="87051" cy="338328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>
            <a:off x="13752576" y="3209544"/>
            <a:ext cx="286024" cy="402336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14038600" y="3209544"/>
            <a:ext cx="87051" cy="338328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H="1">
            <a:off x="14125651" y="3300984"/>
            <a:ext cx="286024" cy="246888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14411675" y="3300984"/>
            <a:ext cx="49743" cy="402336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13752576" y="3547872"/>
            <a:ext cx="373075" cy="64008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14125651" y="3547872"/>
            <a:ext cx="335767" cy="155448"/>
          </a:xfrm>
          <a:prstGeom prst="line">
            <a:avLst/>
          </a:prstGeom>
          <a:ln w="6985">
            <a:solidFill>
              <a:srgbClr val="1E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Oval 539"/>
          <p:cNvSpPr/>
          <p:nvPr/>
        </p:nvSpPr>
        <p:spPr>
          <a:xfrm>
            <a:off x="13586658" y="3194685"/>
            <a:ext cx="157734" cy="157734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13959733" y="3130677"/>
            <a:ext cx="157734" cy="157734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14332808" y="3222117"/>
            <a:ext cx="157734" cy="157734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13673709" y="3533013"/>
            <a:ext cx="157734" cy="157734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14046784" y="3469004"/>
            <a:ext cx="157734" cy="157734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14382551" y="3624452"/>
            <a:ext cx="157734" cy="157734"/>
          </a:xfrm>
          <a:prstGeom prst="ellipse">
            <a:avLst/>
          </a:prstGeom>
          <a:solidFill>
            <a:srgbClr val="2D67B2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13295376" y="4059936"/>
            <a:ext cx="166420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40" b="1" i="0">
                <a:solidFill>
                  <a:srgbClr val="000000"/>
                </a:solidFill>
                <a:latin typeface="Aptos"/>
              </a:rPr>
              <a:t>Updated Server Model $B^{(t+1)}$</a:t>
            </a:r>
          </a:p>
        </p:txBody>
      </p:sp>
      <p:sp>
        <p:nvSpPr>
          <p:cNvPr id="547" name="Circular Arrow 546"/>
          <p:cNvSpPr/>
          <p:nvPr/>
        </p:nvSpPr>
        <p:spPr>
          <a:xfrm>
            <a:off x="13770864" y="4407408"/>
            <a:ext cx="438912" cy="438912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071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14310360" y="4553712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69" b="1" i="0">
                <a:solidFill>
                  <a:srgbClr val="071A58"/>
                </a:solidFill>
                <a:latin typeface="Aptos"/>
              </a:rPr>
              <a:t>Next Round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3277088" y="5084064"/>
            <a:ext cx="169164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19" b="0" i="0">
                <a:solidFill>
                  <a:srgbClr val="000000"/>
                </a:solidFill>
                <a:latin typeface="Aptos"/>
              </a:rPr>
              <a:t>Broadcast updated model</a:t>
            </a:r>
          </a:p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000000"/>
                </a:solidFill>
                <a:latin typeface="Aptos"/>
              </a:rPr>
              <a:t>to clients for next round</a:t>
            </a:r>
          </a:p>
          <a:p>
            <a:pPr algn="ctr">
              <a:spcAft>
                <a:spcPts val="0"/>
              </a:spcAft>
            </a:pPr>
            <a:r>
              <a:rPr sz="919" b="0" i="0">
                <a:solidFill>
                  <a:srgbClr val="000000"/>
                </a:solidFill>
                <a:latin typeface="Aptos"/>
              </a:rPr>
              <a:t>of split learning.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3377672" y="5806440"/>
            <a:ext cx="1481328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 i="0">
                <a:solidFill>
                  <a:srgbClr val="000000"/>
                </a:solidFill>
                <a:latin typeface="Aptos"/>
              </a:rPr>
              <a:t>Repeat until convergence.</a:t>
            </a:r>
          </a:p>
        </p:txBody>
      </p:sp>
      <p:sp>
        <p:nvSpPr>
          <p:cNvPr id="551" name="Rounded Rectangle 550"/>
          <p:cNvSpPr/>
          <p:nvPr/>
        </p:nvSpPr>
        <p:spPr>
          <a:xfrm>
            <a:off x="3931920" y="6108192"/>
            <a:ext cx="8906256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E6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6894576" y="6236208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70" b="1" i="0">
                <a:solidFill>
                  <a:srgbClr val="071A58"/>
                </a:solidFill>
                <a:latin typeface="Aptos"/>
              </a:rPr>
              <a:t>Client Treatment Policy (Combining $_x0007_lpha_i$ and $p_i$)</a:t>
            </a:r>
          </a:p>
        </p:txBody>
      </p:sp>
      <p:sp>
        <p:nvSpPr>
          <p:cNvPr id="553" name="Rounded Rectangle 552"/>
          <p:cNvSpPr/>
          <p:nvPr/>
        </p:nvSpPr>
        <p:spPr>
          <a:xfrm>
            <a:off x="4023360" y="6455664"/>
            <a:ext cx="1965960" cy="1188720"/>
          </a:xfrm>
          <a:prstGeom prst="roundRect">
            <a:avLst/>
          </a:prstGeom>
          <a:solidFill>
            <a:srgbClr val="F4FAF0"/>
          </a:solidFill>
          <a:ln w="8255">
            <a:solidFill>
              <a:srgbClr val="236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TextBox 553"/>
          <p:cNvSpPr txBox="1"/>
          <p:nvPr/>
        </p:nvSpPr>
        <p:spPr>
          <a:xfrm>
            <a:off x="4206240" y="6574536"/>
            <a:ext cx="160020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 i="0">
                <a:solidFill>
                  <a:srgbClr val="236B19"/>
                </a:solidFill>
                <a:latin typeface="Aptos"/>
              </a:rPr>
              <a:t>Others + Benign</a:t>
            </a:r>
          </a:p>
          <a:p>
            <a:pPr algn="ctr">
              <a:spcAft>
                <a:spcPts val="0"/>
              </a:spcAft>
            </a:pPr>
            <a:r>
              <a:rPr sz="860" b="1" i="0">
                <a:solidFill>
                  <a:srgbClr val="236B19"/>
                </a:solidFill>
                <a:latin typeface="Aptos"/>
              </a:rPr>
              <a:t>($_x0007_lpha_i$ High, $p_i$ Low)</a:t>
            </a:r>
          </a:p>
        </p:txBody>
      </p:sp>
      <p:cxnSp>
        <p:nvCxnSpPr>
          <p:cNvPr id="555" name="Connector 554"/>
          <p:cNvCxnSpPr/>
          <p:nvPr/>
        </p:nvCxnSpPr>
        <p:spPr>
          <a:xfrm flipV="1">
            <a:off x="4239524" y="7060082"/>
            <a:ext cx="131673" cy="28804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4371197" y="7060082"/>
            <a:ext cx="131674" cy="41148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4239524" y="7088886"/>
            <a:ext cx="30724" cy="152247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>
            <a:off x="4270248" y="7060082"/>
            <a:ext cx="100949" cy="181051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4371197" y="7060082"/>
            <a:ext cx="30724" cy="152247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>
            <a:off x="4401921" y="7101230"/>
            <a:ext cx="100950" cy="111099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4502871" y="7101230"/>
            <a:ext cx="17556" cy="181051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4270248" y="7212329"/>
            <a:ext cx="131673" cy="28804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4401921" y="7212329"/>
            <a:ext cx="118506" cy="69952"/>
          </a:xfrm>
          <a:prstGeom prst="line">
            <a:avLst/>
          </a:prstGeom>
          <a:ln w="6985">
            <a:solidFill>
              <a:srgbClr val="236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4208663" y="7058024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4340336" y="7029221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4472010" y="7070369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4239387" y="7210272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4371060" y="7181468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4489566" y="7251420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TextBox 569"/>
          <p:cNvSpPr txBox="1"/>
          <p:nvPr/>
        </p:nvSpPr>
        <p:spPr>
          <a:xfrm>
            <a:off x="4654296" y="7059168"/>
            <a:ext cx="978407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000000"/>
                </a:solidFill>
                <a:latin typeface="Aptos"/>
              </a:rPr>
              <a:t>Keep original gradient</a:t>
            </a:r>
          </a:p>
        </p:txBody>
      </p:sp>
      <p:sp>
        <p:nvSpPr>
          <p:cNvPr id="571" name="Oval 570"/>
          <p:cNvSpPr/>
          <p:nvPr/>
        </p:nvSpPr>
        <p:spPr>
          <a:xfrm>
            <a:off x="5641848" y="7315199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36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TextBox 571"/>
          <p:cNvSpPr txBox="1"/>
          <p:nvPr/>
        </p:nvSpPr>
        <p:spPr>
          <a:xfrm>
            <a:off x="5678424" y="7333488"/>
            <a:ext cx="164592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236B19"/>
                </a:solidFill>
                <a:latin typeface="Aptos"/>
              </a:rPr>
              <a:t>✓</a:t>
            </a:r>
          </a:p>
        </p:txBody>
      </p:sp>
      <p:sp>
        <p:nvSpPr>
          <p:cNvPr id="573" name="Rounded Rectangle 572"/>
          <p:cNvSpPr/>
          <p:nvPr/>
        </p:nvSpPr>
        <p:spPr>
          <a:xfrm>
            <a:off x="6126480" y="6455664"/>
            <a:ext cx="1993392" cy="1188720"/>
          </a:xfrm>
          <a:prstGeom prst="roundRect">
            <a:avLst/>
          </a:prstGeom>
          <a:solidFill>
            <a:srgbClr val="F4F8FF"/>
          </a:solidFill>
          <a:ln w="8255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6309360" y="6574536"/>
            <a:ext cx="16276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 i="0">
                <a:solidFill>
                  <a:srgbClr val="11529C"/>
                </a:solidFill>
                <a:latin typeface="Aptos"/>
              </a:rPr>
              <a:t>Unseen + Benign</a:t>
            </a:r>
          </a:p>
          <a:p>
            <a:pPr algn="ctr">
              <a:spcAft>
                <a:spcPts val="0"/>
              </a:spcAft>
            </a:pPr>
            <a:r>
              <a:rPr sz="860" b="1" i="0">
                <a:solidFill>
                  <a:srgbClr val="11529C"/>
                </a:solidFill>
                <a:latin typeface="Aptos"/>
              </a:rPr>
              <a:t>($_x0007_lpha_i$ Low, $p_i$ Low)</a:t>
            </a:r>
          </a:p>
        </p:txBody>
      </p:sp>
      <p:cxnSp>
        <p:nvCxnSpPr>
          <p:cNvPr id="575" name="Connector 574"/>
          <p:cNvCxnSpPr/>
          <p:nvPr/>
        </p:nvCxnSpPr>
        <p:spPr>
          <a:xfrm flipV="1">
            <a:off x="6342644" y="7060082"/>
            <a:ext cx="131673" cy="28804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474317" y="7060082"/>
            <a:ext cx="131674" cy="41148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6342644" y="7088886"/>
            <a:ext cx="30724" cy="152247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H="1">
            <a:off x="6373368" y="7060082"/>
            <a:ext cx="100949" cy="181051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6474317" y="7060082"/>
            <a:ext cx="30724" cy="152247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6505041" y="7101230"/>
            <a:ext cx="100950" cy="111099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6605991" y="7101230"/>
            <a:ext cx="17556" cy="181051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6373368" y="7212329"/>
            <a:ext cx="131673" cy="28804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6505041" y="7212329"/>
            <a:ext cx="118506" cy="69952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Oval 583"/>
          <p:cNvSpPr/>
          <p:nvPr/>
        </p:nvSpPr>
        <p:spPr>
          <a:xfrm>
            <a:off x="6311783" y="7058024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6443456" y="7029221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6575130" y="7070369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6342507" y="7210272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6474180" y="7181468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6592686" y="7251420"/>
            <a:ext cx="61722" cy="61722"/>
          </a:xfrm>
          <a:prstGeom prst="ellipse">
            <a:avLst/>
          </a:prstGeom>
          <a:solidFill>
            <a:srgbClr val="A9D89A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6757416" y="7059168"/>
            <a:ext cx="100584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000000"/>
                </a:solidFill>
                <a:latin typeface="Aptos"/>
              </a:rPr>
              <a:t>Keep original gradient</a:t>
            </a:r>
          </a:p>
        </p:txBody>
      </p:sp>
      <p:sp>
        <p:nvSpPr>
          <p:cNvPr id="591" name="Oval 590"/>
          <p:cNvSpPr/>
          <p:nvPr/>
        </p:nvSpPr>
        <p:spPr>
          <a:xfrm>
            <a:off x="7772400" y="7315199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15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7808976" y="7333488"/>
            <a:ext cx="164592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11529C"/>
                </a:solidFill>
                <a:latin typeface="Aptos"/>
              </a:rPr>
              <a:t>✓</a:t>
            </a:r>
          </a:p>
        </p:txBody>
      </p:sp>
      <p:sp>
        <p:nvSpPr>
          <p:cNvPr id="593" name="Rounded Rectangle 592"/>
          <p:cNvSpPr/>
          <p:nvPr/>
        </p:nvSpPr>
        <p:spPr>
          <a:xfrm>
            <a:off x="8247888" y="6455664"/>
            <a:ext cx="2048256" cy="1188720"/>
          </a:xfrm>
          <a:prstGeom prst="roundRect">
            <a:avLst/>
          </a:prstGeom>
          <a:solidFill>
            <a:srgbClr val="FFF5F3"/>
          </a:solidFill>
          <a:ln w="8255">
            <a:solidFill>
              <a:srgbClr val="B5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8430767" y="6574536"/>
            <a:ext cx="1682496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 i="0">
                <a:solidFill>
                  <a:srgbClr val="B51111"/>
                </a:solidFill>
                <a:latin typeface="Aptos"/>
              </a:rPr>
              <a:t>Others + Backdoor</a:t>
            </a:r>
          </a:p>
          <a:p>
            <a:pPr algn="ctr">
              <a:spcAft>
                <a:spcPts val="0"/>
              </a:spcAft>
            </a:pPr>
            <a:r>
              <a:rPr sz="860" b="1" i="0">
                <a:solidFill>
                  <a:srgbClr val="B51111"/>
                </a:solidFill>
                <a:latin typeface="Aptos"/>
              </a:rPr>
              <a:t>($_x0007_lpha_i$ High, $p_i$ High)</a:t>
            </a:r>
          </a:p>
        </p:txBody>
      </p:sp>
      <p:cxnSp>
        <p:nvCxnSpPr>
          <p:cNvPr id="595" name="Connector 594"/>
          <p:cNvCxnSpPr/>
          <p:nvPr/>
        </p:nvCxnSpPr>
        <p:spPr>
          <a:xfrm flipV="1">
            <a:off x="8464052" y="7060082"/>
            <a:ext cx="131673" cy="28804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8595725" y="7060082"/>
            <a:ext cx="131674" cy="41148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8464052" y="7088886"/>
            <a:ext cx="30724" cy="152247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8494776" y="7060082"/>
            <a:ext cx="100949" cy="181051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8595725" y="7060082"/>
            <a:ext cx="30724" cy="152247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8626449" y="7101230"/>
            <a:ext cx="100950" cy="111099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8727399" y="7101230"/>
            <a:ext cx="17556" cy="181051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8494776" y="7212329"/>
            <a:ext cx="131673" cy="28804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8626449" y="7212329"/>
            <a:ext cx="118506" cy="69952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Oval 603"/>
          <p:cNvSpPr/>
          <p:nvPr/>
        </p:nvSpPr>
        <p:spPr>
          <a:xfrm>
            <a:off x="8433191" y="7058024"/>
            <a:ext cx="61722" cy="61722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8564864" y="7029221"/>
            <a:ext cx="61722" cy="61722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8696538" y="7070369"/>
            <a:ext cx="61722" cy="61722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8463915" y="7210272"/>
            <a:ext cx="61722" cy="61722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8595588" y="7181468"/>
            <a:ext cx="61722" cy="61722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8714094" y="7251420"/>
            <a:ext cx="61722" cy="61722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8878824" y="7059168"/>
            <a:ext cx="1060704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000000"/>
                </a:solidFill>
                <a:latin typeface="Aptos"/>
              </a:rPr>
              <a:t>Discard gradient</a:t>
            </a:r>
          </a:p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00000"/>
                </a:solidFill>
                <a:latin typeface="Aptos"/>
              </a:rPr>
              <a:t>(set to zero)</a:t>
            </a:r>
          </a:p>
        </p:txBody>
      </p:sp>
      <p:sp>
        <p:nvSpPr>
          <p:cNvPr id="611" name="Oval 610"/>
          <p:cNvSpPr/>
          <p:nvPr/>
        </p:nvSpPr>
        <p:spPr>
          <a:xfrm>
            <a:off x="9957815" y="7324344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B5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9994392" y="7342631"/>
            <a:ext cx="164592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B51111"/>
                </a:solidFill>
                <a:latin typeface="Aptos"/>
              </a:rPr>
              <a:t>×</a:t>
            </a:r>
          </a:p>
        </p:txBody>
      </p:sp>
      <p:sp>
        <p:nvSpPr>
          <p:cNvPr id="613" name="Rounded Rectangle 612"/>
          <p:cNvSpPr/>
          <p:nvPr/>
        </p:nvSpPr>
        <p:spPr>
          <a:xfrm>
            <a:off x="10415016" y="6455664"/>
            <a:ext cx="2304288" cy="1188720"/>
          </a:xfrm>
          <a:prstGeom prst="roundRect">
            <a:avLst/>
          </a:prstGeom>
          <a:solidFill>
            <a:srgbClr val="FAF5FF"/>
          </a:solidFill>
          <a:ln w="8255">
            <a:solidFill>
              <a:srgbClr val="3B1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10597896" y="6574536"/>
            <a:ext cx="19385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 i="0">
                <a:solidFill>
                  <a:srgbClr val="3B126E"/>
                </a:solidFill>
                <a:latin typeface="Aptos"/>
              </a:rPr>
              <a:t>Unseen + Backdoor</a:t>
            </a:r>
          </a:p>
          <a:p>
            <a:pPr algn="ctr">
              <a:spcAft>
                <a:spcPts val="0"/>
              </a:spcAft>
            </a:pPr>
            <a:r>
              <a:rPr sz="860" b="1" i="0">
                <a:solidFill>
                  <a:srgbClr val="3B126E"/>
                </a:solidFill>
                <a:latin typeface="Aptos"/>
              </a:rPr>
              <a:t>($_x0007_lpha_i$ Low, $p_i$ High)</a:t>
            </a:r>
          </a:p>
        </p:txBody>
      </p:sp>
      <p:cxnSp>
        <p:nvCxnSpPr>
          <p:cNvPr id="615" name="Connector 614"/>
          <p:cNvCxnSpPr/>
          <p:nvPr/>
        </p:nvCxnSpPr>
        <p:spPr>
          <a:xfrm flipV="1">
            <a:off x="10646176" y="7036856"/>
            <a:ext cx="126187" cy="26884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0772363" y="7036856"/>
            <a:ext cx="126187" cy="38405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0646176" y="7063740"/>
            <a:ext cx="29444" cy="142097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H="1">
            <a:off x="10675620" y="7036856"/>
            <a:ext cx="96743" cy="168981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0772363" y="7036856"/>
            <a:ext cx="29444" cy="142098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H="1">
            <a:off x="10801807" y="7075261"/>
            <a:ext cx="96743" cy="103693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0898550" y="7075261"/>
            <a:ext cx="16825" cy="168981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10675620" y="7178954"/>
            <a:ext cx="126187" cy="26883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0801807" y="7178954"/>
            <a:ext cx="113568" cy="65288"/>
          </a:xfrm>
          <a:prstGeom prst="line">
            <a:avLst/>
          </a:prstGeom>
          <a:ln w="6985">
            <a:solidFill>
              <a:srgbClr val="B5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4" name="Oval 623"/>
          <p:cNvSpPr/>
          <p:nvPr/>
        </p:nvSpPr>
        <p:spPr>
          <a:xfrm>
            <a:off x="10617372" y="7034936"/>
            <a:ext cx="57607" cy="57607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10743559" y="7008053"/>
            <a:ext cx="57607" cy="57607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10869747" y="7046457"/>
            <a:ext cx="57607" cy="57607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10646816" y="7177034"/>
            <a:ext cx="57607" cy="57607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10773003" y="7150150"/>
            <a:ext cx="57607" cy="57607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10886572" y="7215438"/>
            <a:ext cx="57607" cy="57607"/>
          </a:xfrm>
          <a:prstGeom prst="ellipse">
            <a:avLst/>
          </a:prstGeom>
          <a:solidFill>
            <a:srgbClr val="F4B7AF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0472623" y="6918167"/>
            <a:ext cx="96012" cy="19842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0568635" y="6918167"/>
            <a:ext cx="96012" cy="28346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0472623" y="6938009"/>
            <a:ext cx="22403" cy="104882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0495026" y="6918167"/>
            <a:ext cx="73609" cy="124724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10568635" y="6918167"/>
            <a:ext cx="22403" cy="104882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H="1">
            <a:off x="10591038" y="6946513"/>
            <a:ext cx="73609" cy="76536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10664647" y="6946513"/>
            <a:ext cx="12801" cy="124725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10495026" y="7023049"/>
            <a:ext cx="96012" cy="19842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0591038" y="7023049"/>
            <a:ext cx="86410" cy="48189"/>
          </a:xfrm>
          <a:prstGeom prst="line">
            <a:avLst/>
          </a:prstGeom>
          <a:ln w="6985">
            <a:solidFill>
              <a:srgbClr val="115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Oval 638"/>
          <p:cNvSpPr/>
          <p:nvPr/>
        </p:nvSpPr>
        <p:spPr>
          <a:xfrm>
            <a:off x="10451363" y="6916750"/>
            <a:ext cx="42519" cy="42519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10547375" y="6896907"/>
            <a:ext cx="42519" cy="42519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10643387" y="6925254"/>
            <a:ext cx="42519" cy="42519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10473766" y="7021631"/>
            <a:ext cx="42519" cy="42519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10569778" y="7001789"/>
            <a:ext cx="42519" cy="42519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10656189" y="7049978"/>
            <a:ext cx="42519" cy="42519"/>
          </a:xfrm>
          <a:prstGeom prst="ellipse">
            <a:avLst/>
          </a:prstGeom>
          <a:solidFill>
            <a:srgbClr val="AFCDF9"/>
          </a:solidFill>
          <a:ln w="6985">
            <a:solidFill>
              <a:srgbClr val="1E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TextBox 644"/>
          <p:cNvSpPr txBox="1"/>
          <p:nvPr/>
        </p:nvSpPr>
        <p:spPr>
          <a:xfrm>
            <a:off x="11045952" y="7059168"/>
            <a:ext cx="1316736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000000"/>
                </a:solidFill>
                <a:latin typeface="Aptos"/>
              </a:rPr>
              <a:t>Calibrate gradient</a:t>
            </a:r>
          </a:p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00000"/>
                </a:solidFill>
                <a:latin typeface="Aptos"/>
              </a:rPr>
              <a:t>($\tilde{T}_i = _x0008_eta_i \cdot T_i$)</a:t>
            </a:r>
          </a:p>
        </p:txBody>
      </p:sp>
      <p:sp>
        <p:nvSpPr>
          <p:cNvPr id="646" name="Gear 6 645"/>
          <p:cNvSpPr/>
          <p:nvPr/>
        </p:nvSpPr>
        <p:spPr>
          <a:xfrm>
            <a:off x="12353544" y="7278624"/>
            <a:ext cx="301752" cy="301752"/>
          </a:xfrm>
          <a:prstGeom prst="gear6">
            <a:avLst/>
          </a:prstGeom>
          <a:solidFill>
            <a:srgbClr val="8561C5"/>
          </a:solidFill>
          <a:ln w="8890">
            <a:solidFill>
              <a:srgbClr val="3B1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1828800" y="6510528"/>
            <a:ext cx="0" cy="53035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1828800" y="7040880"/>
            <a:ext cx="210312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9" name="Right Arrow 648"/>
          <p:cNvSpPr/>
          <p:nvPr/>
        </p:nvSpPr>
        <p:spPr>
          <a:xfrm>
            <a:off x="3776472" y="6967728"/>
            <a:ext cx="164592" cy="128016"/>
          </a:xfrm>
          <a:prstGeom prst="righ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>
            <a:off x="14072616" y="6126480"/>
            <a:ext cx="0" cy="91440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H="1">
            <a:off x="12874752" y="7040880"/>
            <a:ext cx="1197864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2" name="Left Arrow 651"/>
          <p:cNvSpPr/>
          <p:nvPr/>
        </p:nvSpPr>
        <p:spPr>
          <a:xfrm>
            <a:off x="12838176" y="6967728"/>
            <a:ext cx="182880" cy="128016"/>
          </a:xfrm>
          <a:prstGeom prst="leftArrow">
            <a:avLst/>
          </a:prstGeom>
          <a:solidFill>
            <a:srgbClr val="000000"/>
          </a:solidFill>
          <a:ln w="25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ounded Rectangle 652"/>
          <p:cNvSpPr/>
          <p:nvPr/>
        </p:nvSpPr>
        <p:spPr>
          <a:xfrm>
            <a:off x="1280160" y="7918704"/>
            <a:ext cx="12838176" cy="484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08760" y="8083296"/>
            <a:ext cx="594360" cy="1097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60" b="1" i="0">
                <a:solidFill>
                  <a:srgbClr val="000000"/>
                </a:solidFill>
                <a:latin typeface="Aptos"/>
              </a:rPr>
              <a:t>Notations: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2560320" y="8055864"/>
            <a:ext cx="171907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ptos"/>
              </a:rPr>
              <a:t>$H_i$: Intermediate activations (forward)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4882896" y="8055864"/>
            <a:ext cx="1737360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ptos"/>
              </a:rPr>
              <a:t>$T_i$: Gradients (backward)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6510528" y="8055864"/>
            <a:ext cx="2249424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ptos"/>
              </a:rPr>
              <a:t>$_x0007_lpha_i$: Confidence score for unseen likelihood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9281160" y="8055864"/>
            <a:ext cx="1353312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ptos"/>
              </a:rPr>
              <a:t>$p_i$: Backdoor probability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10680192" y="8055864"/>
            <a:ext cx="1298448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ptos"/>
              </a:rPr>
              <a:t>$_x0008_eta_i$: Calibration factor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12527280" y="8055864"/>
            <a:ext cx="1417320" cy="1463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ptos"/>
              </a:rPr>
              <a:t>$\tilde{T}_i$: Calibrated gradient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Our Defense Framework</dc:title>
  <dc:subject>Editable reproduction of overview.png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